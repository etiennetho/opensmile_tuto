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3" r:id="rId7"/>
    <p:sldId id="262" r:id="rId8"/>
    <p:sldId id="271" r:id="rId9"/>
    <p:sldId id="264" r:id="rId10"/>
    <p:sldId id="265" r:id="rId11"/>
    <p:sldId id="266" r:id="rId12"/>
    <p:sldId id="270" r:id="rId13"/>
    <p:sldId id="269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94"/>
  </p:normalViewPr>
  <p:slideViewPr>
    <p:cSldViewPr snapToGrid="0" showGuides="1">
      <p:cViewPr>
        <p:scale>
          <a:sx n="96" d="100"/>
          <a:sy n="96" d="100"/>
        </p:scale>
        <p:origin x="1304" y="61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2CEA0B-B036-3035-C6BF-549ABE6AAF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36A0C4E-0B62-B42D-9AC1-FFE777A16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341E27-06DF-C055-FC8A-1FB7C3EF9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52F6943-704F-8F71-C041-CAD730899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3AC287-0D24-B0D6-D9EF-96848BE68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727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AC248D-33F9-4129-703D-1DBC07842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ADC1FF-4851-3CD4-093D-6474B1C90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ED60A7-A2B2-E261-D8CF-DE51F3D83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7F03CF-99C2-6834-08CC-0BD406ACF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486673-5258-2EA1-9A87-81AF95CB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51504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213BAD-1013-2796-BD31-383F8ABD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15C725-C298-BD68-BE9B-38DA9549C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58E9B16-482A-DC21-0AA2-7F0074BCA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85077C4-C849-73A5-7379-8553DB1D3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58DE4D-69BB-2BF5-660A-7F7AAD44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4221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72CB92-50ED-D87E-CFC7-1FD42561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948D74-D6F2-D96A-4E1C-C6AAB6600A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F17810F-8BFF-2A2B-3C73-B9C2A508D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4964675-61C9-8801-B76C-ECC9DB5C9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A3A69CF-DCF4-6D4C-ED7E-8A809EDC6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3B6DD2F-4D97-4A05-317D-730FFA6CC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083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533671-F66F-094C-550C-475DEC0C8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77EACE-19BF-6DBC-90A3-C70557007E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30FA5A9-3664-B143-BCAF-DAF7D0936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DBF2C7-203F-40FA-1C36-8186CBDF05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0D51D35-C583-F3BE-BFDE-03A4094FB9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1E208B6-90DA-8809-A71F-BDAA6F2F4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B712FBC-6ECC-2979-59B7-AB27C465A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37C9BC3-A875-111B-9781-ABDEAD88E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815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8303B3-91A1-FFA9-B84C-4FBCE05D9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F7895D8-880F-3214-05B6-ADD3B7A8B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B607320-E7DE-6C25-99B1-71E4975AA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0C7E0D0-445F-2B8E-9149-4FA58BC5C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0862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8E39C3-54BD-62EA-D64C-5AD7C90A5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4194C6E-4A51-4DC2-93D2-D789F8813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E7BD5C-7F31-950A-2A1F-3C6EA8FE0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74725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AB6E79-96DE-FF33-6088-646D570A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47709B-82E7-3C70-8DAF-0645C035B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42FBCEC-35F1-734B-3C35-4EBA3AA008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5B8C066-F380-E711-C3B5-9FD02011D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08905B-1811-85EC-0F5B-EE14B9BC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9D48845-74B3-11C6-5F7F-62782A44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7591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A1E2D5E-07AC-BC25-275E-D2B285224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1C911E5-542E-C758-F2BB-52B6087E2C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4F21AC5-FCBB-61BB-ECB4-38E7D3AFC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35BFE8-86D8-99A3-73F5-F5B08948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28152D6-5252-1F18-6993-298840751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27968F-BAAE-14B2-9BCC-82F20FD53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079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843C8A-2AC5-8149-5802-1D8F347A3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E0AF1F4-65BF-49E0-FDA8-E4C6D4C0D5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69B52F-EC12-9624-0A80-7CD0D82CB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3E0AE6A-2342-5C4D-8249-688A4D03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39F540-D7D3-716A-E802-17B6E65B2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850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D582B9F-3CF2-E176-F001-A855880667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0FC215A-874C-48A1-7F9B-967312DF3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C196F6-3DD7-0218-8875-C90B00447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060B4E-D40F-0CDA-5C55-B784C93C5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40DE55-D285-1EFD-B2A5-ACD0F7CC9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95957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4301D998-1C8A-322E-8EBD-0B64734BB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C5378C5-A352-9F2A-1CC6-026FFCC2D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F0706F-FE1C-6223-DC42-3DC5E8C888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9F3D80-27E3-C640-A173-F8A3C6A6D0FD}" type="datetimeFigureOut">
              <a:rPr lang="fr-FR" smtClean="0"/>
              <a:t>19/10/2024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9E97FD-BCA9-405E-94D8-798350C32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4A2056-539C-DC80-E8DA-F9A9D091E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35D53D-5057-BF45-B520-F2AA88C6B0D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4854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A6448-9B73-15ED-962F-1462682B6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107"/>
            <a:ext cx="9144000" cy="2387600"/>
          </a:xfrm>
        </p:spPr>
        <p:txBody>
          <a:bodyPr/>
          <a:lstStyle/>
          <a:p>
            <a:r>
              <a:rPr lang="fr-FR" b="1" dirty="0" err="1"/>
              <a:t>openSMILE</a:t>
            </a:r>
            <a:endParaRPr lang="fr-FR" b="1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901D16-EFBA-6573-FB71-FA8DC3151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287009"/>
            <a:ext cx="7772400" cy="255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563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654F-07A7-8228-8497-0D6A534A6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BE4C810A-B24A-E250-9702-E75D2E5C0B8D}"/>
              </a:ext>
            </a:extLst>
          </p:cNvPr>
          <p:cNvSpPr txBox="1"/>
          <p:nvPr/>
        </p:nvSpPr>
        <p:spPr>
          <a:xfrm>
            <a:off x="489858" y="478972"/>
            <a:ext cx="45977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Brief introduction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76D297D-C802-8C1D-D264-753CB68C80D3}"/>
              </a:ext>
            </a:extLst>
          </p:cNvPr>
          <p:cNvSpPr txBox="1"/>
          <p:nvPr/>
        </p:nvSpPr>
        <p:spPr>
          <a:xfrm>
            <a:off x="489858" y="4125687"/>
            <a:ext cx="3292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How to use?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63D560C-854F-1297-2406-D79B4A5C0335}"/>
              </a:ext>
            </a:extLst>
          </p:cNvPr>
          <p:cNvSpPr txBox="1"/>
          <p:nvPr/>
        </p:nvSpPr>
        <p:spPr>
          <a:xfrm>
            <a:off x="489858" y="2177144"/>
            <a:ext cx="420179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 err="1"/>
              <a:t>Examples</a:t>
            </a:r>
            <a:r>
              <a:rPr lang="fr-FR" sz="4800" dirty="0"/>
              <a:t> of use</a:t>
            </a:r>
          </a:p>
        </p:txBody>
      </p:sp>
    </p:spTree>
    <p:extLst>
      <p:ext uri="{BB962C8B-B14F-4D97-AF65-F5344CB8AC3E}">
        <p14:creationId xmlns:p14="http://schemas.microsoft.com/office/powerpoint/2010/main" val="3000714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7BBF4-C5B3-56A1-47FF-A0573A5E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3EC2B10-D199-C35A-304C-1EF41CA421E7}"/>
              </a:ext>
            </a:extLst>
          </p:cNvPr>
          <p:cNvSpPr txBox="1"/>
          <p:nvPr/>
        </p:nvSpPr>
        <p:spPr>
          <a:xfrm>
            <a:off x="489858" y="478972"/>
            <a:ext cx="47692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Brief 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7DD8D25-3B52-9D76-9610-7BBEA42732DB}"/>
              </a:ext>
            </a:extLst>
          </p:cNvPr>
          <p:cNvSpPr txBox="1"/>
          <p:nvPr/>
        </p:nvSpPr>
        <p:spPr>
          <a:xfrm>
            <a:off x="1142999" y="1621695"/>
            <a:ext cx="883920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« </a:t>
            </a:r>
            <a:r>
              <a:rPr lang="fr-FR" sz="2400" dirty="0" err="1"/>
              <a:t>We</a:t>
            </a:r>
            <a:r>
              <a:rPr lang="fr-FR" sz="2400" dirty="0"/>
              <a:t> </a:t>
            </a:r>
            <a:r>
              <a:rPr lang="fr-FR" sz="2400" dirty="0" err="1"/>
              <a:t>introduce</a:t>
            </a:r>
            <a:r>
              <a:rPr lang="fr-FR" sz="2400" dirty="0"/>
              <a:t> the </a:t>
            </a:r>
            <a:r>
              <a:rPr lang="fr-FR" sz="2400" dirty="0" err="1"/>
              <a:t>openSMILE</a:t>
            </a:r>
            <a:r>
              <a:rPr lang="fr-FR" sz="2400" dirty="0"/>
              <a:t> </a:t>
            </a:r>
            <a:r>
              <a:rPr lang="fr-FR" sz="2400" dirty="0" err="1"/>
              <a:t>feature</a:t>
            </a:r>
            <a:r>
              <a:rPr lang="fr-FR" sz="2400" dirty="0"/>
              <a:t> extraction toolkit, </a:t>
            </a:r>
            <a:r>
              <a:rPr lang="fr-FR" sz="2400" b="1" i="1" dirty="0" err="1"/>
              <a:t>which</a:t>
            </a:r>
            <a:r>
              <a:rPr lang="fr-FR" sz="2400" b="1" i="1" dirty="0"/>
              <a:t> </a:t>
            </a:r>
            <a:r>
              <a:rPr lang="fr-FR" sz="2400" b="1" i="1" dirty="0" err="1"/>
              <a:t>unites</a:t>
            </a:r>
            <a:r>
              <a:rPr lang="fr-FR" sz="2400" b="1" i="1" dirty="0"/>
              <a:t> </a:t>
            </a:r>
            <a:r>
              <a:rPr lang="fr-FR" sz="2400" b="1" i="1" dirty="0" err="1">
                <a:solidFill>
                  <a:srgbClr val="FF0000"/>
                </a:solidFill>
              </a:rPr>
              <a:t>feature</a:t>
            </a:r>
            <a:r>
              <a:rPr lang="fr-FR" sz="2400" b="1" i="1" dirty="0">
                <a:solidFill>
                  <a:srgbClr val="FF0000"/>
                </a:solidFill>
              </a:rPr>
              <a:t> extraction </a:t>
            </a:r>
            <a:r>
              <a:rPr lang="fr-FR" sz="2400" b="1" i="1" dirty="0" err="1">
                <a:solidFill>
                  <a:srgbClr val="FF0000"/>
                </a:solidFill>
              </a:rPr>
              <a:t>algorithms</a:t>
            </a:r>
            <a:r>
              <a:rPr lang="fr-FR" sz="2400" b="1" i="1" dirty="0">
                <a:solidFill>
                  <a:srgbClr val="FF0000"/>
                </a:solidFill>
              </a:rPr>
              <a:t> </a:t>
            </a:r>
            <a:r>
              <a:rPr lang="fr-FR" sz="2400" b="1" i="1" dirty="0" err="1">
                <a:solidFill>
                  <a:srgbClr val="FF0000"/>
                </a:solidFill>
              </a:rPr>
              <a:t>from</a:t>
            </a:r>
            <a:r>
              <a:rPr lang="fr-FR" sz="2400" b="1" i="1" dirty="0">
                <a:solidFill>
                  <a:srgbClr val="FF0000"/>
                </a:solidFill>
              </a:rPr>
              <a:t> the speech </a:t>
            </a:r>
            <a:r>
              <a:rPr lang="fr-FR" sz="2400" b="1" i="1" dirty="0" err="1">
                <a:solidFill>
                  <a:srgbClr val="FF0000"/>
                </a:solidFill>
              </a:rPr>
              <a:t>processing</a:t>
            </a:r>
            <a:r>
              <a:rPr lang="fr-FR" sz="2400" b="1" i="1" dirty="0">
                <a:solidFill>
                  <a:srgbClr val="FF0000"/>
                </a:solidFill>
              </a:rPr>
              <a:t> and the Music Information </a:t>
            </a:r>
            <a:r>
              <a:rPr lang="fr-FR" sz="2400" b="1" i="1" dirty="0" err="1">
                <a:solidFill>
                  <a:srgbClr val="FF0000"/>
                </a:solidFill>
              </a:rPr>
              <a:t>Retrieval</a:t>
            </a:r>
            <a:r>
              <a:rPr lang="fr-FR" sz="2400" b="1" i="1" dirty="0">
                <a:solidFill>
                  <a:srgbClr val="FF0000"/>
                </a:solidFill>
              </a:rPr>
              <a:t> </a:t>
            </a:r>
            <a:r>
              <a:rPr lang="fr-FR" sz="2400" b="1" i="1" dirty="0" err="1">
                <a:solidFill>
                  <a:srgbClr val="FF0000"/>
                </a:solidFill>
              </a:rPr>
              <a:t>communities</a:t>
            </a:r>
            <a:r>
              <a:rPr lang="fr-FR" sz="2400" dirty="0"/>
              <a:t>. Audio </a:t>
            </a:r>
            <a:r>
              <a:rPr lang="fr-FR" sz="2400" b="1" dirty="0" err="1"/>
              <a:t>low-level</a:t>
            </a:r>
            <a:r>
              <a:rPr lang="fr-FR" sz="2400" b="1" dirty="0"/>
              <a:t> </a:t>
            </a:r>
            <a:r>
              <a:rPr lang="fr-FR" sz="2400" b="1" dirty="0" err="1"/>
              <a:t>descriptors</a:t>
            </a:r>
            <a:r>
              <a:rPr lang="fr-FR" sz="2400" dirty="0"/>
              <a:t> </a:t>
            </a:r>
            <a:r>
              <a:rPr lang="fr-FR" sz="2400" dirty="0" err="1"/>
              <a:t>such</a:t>
            </a:r>
            <a:r>
              <a:rPr lang="fr-FR" sz="2400" dirty="0"/>
              <a:t> as </a:t>
            </a:r>
            <a:r>
              <a:rPr lang="fr-FR" sz="2400" b="1" dirty="0"/>
              <a:t>CHROMA</a:t>
            </a:r>
            <a:r>
              <a:rPr lang="fr-FR" sz="2400" dirty="0"/>
              <a:t> and </a:t>
            </a:r>
            <a:r>
              <a:rPr lang="fr-FR" sz="2400" b="1" dirty="0"/>
              <a:t>CENS</a:t>
            </a:r>
            <a:r>
              <a:rPr lang="fr-FR" sz="2400" dirty="0"/>
              <a:t> </a:t>
            </a:r>
            <a:r>
              <a:rPr lang="fr-FR" sz="2400" dirty="0" err="1"/>
              <a:t>features</a:t>
            </a:r>
            <a:r>
              <a:rPr lang="fr-FR" sz="2400" dirty="0"/>
              <a:t>, </a:t>
            </a:r>
            <a:r>
              <a:rPr lang="fr-FR" sz="2400" b="1" dirty="0" err="1">
                <a:solidFill>
                  <a:srgbClr val="FF0000"/>
                </a:solidFill>
              </a:rPr>
              <a:t>loudness</a:t>
            </a:r>
            <a:r>
              <a:rPr lang="fr-FR" sz="2400" b="1" dirty="0">
                <a:solidFill>
                  <a:srgbClr val="FF0000"/>
                </a:solidFill>
              </a:rPr>
              <a:t>, Mel-</a:t>
            </a:r>
            <a:r>
              <a:rPr lang="fr-FR" sz="2400" b="1" dirty="0" err="1">
                <a:solidFill>
                  <a:srgbClr val="FF0000"/>
                </a:solidFill>
              </a:rPr>
              <a:t>frequency</a:t>
            </a:r>
            <a:r>
              <a:rPr lang="fr-FR" sz="2400" b="1" dirty="0">
                <a:solidFill>
                  <a:srgbClr val="FF0000"/>
                </a:solidFill>
              </a:rPr>
              <a:t> cepstral </a:t>
            </a:r>
            <a:r>
              <a:rPr lang="fr-FR" sz="2400" b="1" dirty="0" err="1">
                <a:solidFill>
                  <a:srgbClr val="FF0000"/>
                </a:solidFill>
              </a:rPr>
              <a:t>coeﬃcients</a:t>
            </a:r>
            <a:r>
              <a:rPr lang="fr-FR" sz="2400" b="1" dirty="0">
                <a:solidFill>
                  <a:srgbClr val="FF0000"/>
                </a:solidFill>
              </a:rPr>
              <a:t>, </a:t>
            </a:r>
            <a:r>
              <a:rPr lang="fr-FR" sz="2400" b="1" dirty="0" err="1">
                <a:solidFill>
                  <a:srgbClr val="FF0000"/>
                </a:solidFill>
              </a:rPr>
              <a:t>perceptual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linear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predictive</a:t>
            </a:r>
            <a:r>
              <a:rPr lang="fr-FR" sz="2400" b="1" dirty="0">
                <a:solidFill>
                  <a:srgbClr val="FF0000"/>
                </a:solidFill>
              </a:rPr>
              <a:t> cepstral </a:t>
            </a:r>
            <a:r>
              <a:rPr lang="fr-FR" sz="2400" b="1" dirty="0" err="1">
                <a:solidFill>
                  <a:srgbClr val="FF0000"/>
                </a:solidFill>
              </a:rPr>
              <a:t>coeﬃcients</a:t>
            </a:r>
            <a:r>
              <a:rPr lang="fr-FR" sz="2400" b="1" dirty="0">
                <a:solidFill>
                  <a:srgbClr val="FF0000"/>
                </a:solidFill>
              </a:rPr>
              <a:t>, </a:t>
            </a:r>
            <a:r>
              <a:rPr lang="fr-FR" sz="2400" b="1" dirty="0" err="1">
                <a:solidFill>
                  <a:srgbClr val="FF0000"/>
                </a:solidFill>
              </a:rPr>
              <a:t>linear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predictive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coeﬃcients</a:t>
            </a:r>
            <a:r>
              <a:rPr lang="fr-FR" sz="2400" b="1" dirty="0">
                <a:solidFill>
                  <a:srgbClr val="FF0000"/>
                </a:solidFill>
              </a:rPr>
              <a:t>, line spectral </a:t>
            </a:r>
            <a:r>
              <a:rPr lang="fr-FR" sz="2400" b="1" dirty="0" err="1">
                <a:solidFill>
                  <a:srgbClr val="FF0000"/>
                </a:solidFill>
              </a:rPr>
              <a:t>frequencies</a:t>
            </a:r>
            <a:r>
              <a:rPr lang="fr-FR" sz="2400" b="1" dirty="0">
                <a:solidFill>
                  <a:srgbClr val="FF0000"/>
                </a:solidFill>
              </a:rPr>
              <a:t>, </a:t>
            </a:r>
            <a:r>
              <a:rPr lang="fr-FR" sz="2400" b="1" dirty="0" err="1">
                <a:solidFill>
                  <a:srgbClr val="FF0000"/>
                </a:solidFill>
              </a:rPr>
              <a:t>fundamental</a:t>
            </a:r>
            <a:r>
              <a:rPr lang="fr-FR" sz="2400" b="1" dirty="0">
                <a:solidFill>
                  <a:srgbClr val="FF0000"/>
                </a:solidFill>
              </a:rPr>
              <a:t> </a:t>
            </a:r>
            <a:r>
              <a:rPr lang="fr-FR" sz="2400" b="1" dirty="0" err="1">
                <a:solidFill>
                  <a:srgbClr val="FF0000"/>
                </a:solidFill>
              </a:rPr>
              <a:t>frequency</a:t>
            </a:r>
            <a:r>
              <a:rPr lang="fr-FR" sz="2400" dirty="0"/>
              <a:t>, and formant </a:t>
            </a:r>
            <a:r>
              <a:rPr lang="fr-FR" sz="2400" dirty="0" err="1"/>
              <a:t>frequencies</a:t>
            </a:r>
            <a:r>
              <a:rPr lang="fr-FR" sz="2400" dirty="0"/>
              <a:t> are </a:t>
            </a:r>
            <a:r>
              <a:rPr lang="fr-FR" sz="2400" dirty="0" err="1"/>
              <a:t>supported</a:t>
            </a:r>
            <a:r>
              <a:rPr lang="fr-FR" sz="2400" dirty="0"/>
              <a:t>. »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CCE892D-A266-8720-70AB-A00CDD4B32B6}"/>
              </a:ext>
            </a:extLst>
          </p:cNvPr>
          <p:cNvSpPr txBox="1"/>
          <p:nvPr/>
        </p:nvSpPr>
        <p:spPr>
          <a:xfrm>
            <a:off x="1785255" y="4898295"/>
            <a:ext cx="8839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Translation: all the </a:t>
            </a:r>
            <a:r>
              <a:rPr lang="fr-FR" sz="2400" dirty="0" err="1"/>
              <a:t>descriptors</a:t>
            </a:r>
            <a:r>
              <a:rPr lang="fr-FR" sz="2400" dirty="0"/>
              <a:t> &amp; </a:t>
            </a:r>
            <a:r>
              <a:rPr lang="fr-FR" sz="2400" dirty="0" err="1"/>
              <a:t>features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can imagine to </a:t>
            </a:r>
            <a:r>
              <a:rPr lang="fr-FR" sz="2400" dirty="0" err="1"/>
              <a:t>describe</a:t>
            </a:r>
            <a:r>
              <a:rPr lang="fr-FR" sz="2400" dirty="0"/>
              <a:t> a speech </a:t>
            </a:r>
            <a:r>
              <a:rPr lang="fr-FR" sz="2400" dirty="0" err="1"/>
              <a:t>sound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631632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F91B4-8EE3-4465-F425-FAD7A2A6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B811D90-2FC1-E67A-436C-5036EA3B7DF2}"/>
              </a:ext>
            </a:extLst>
          </p:cNvPr>
          <p:cNvSpPr txBox="1"/>
          <p:nvPr/>
        </p:nvSpPr>
        <p:spPr>
          <a:xfrm>
            <a:off x="489858" y="478972"/>
            <a:ext cx="47692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Brief 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310D891-98F3-2C59-DAB2-9938921B1BAD}"/>
              </a:ext>
            </a:extLst>
          </p:cNvPr>
          <p:cNvSpPr txBox="1"/>
          <p:nvPr/>
        </p:nvSpPr>
        <p:spPr>
          <a:xfrm>
            <a:off x="1142999" y="1621695"/>
            <a:ext cx="8839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 err="1"/>
              <a:t>Examples</a:t>
            </a:r>
            <a:r>
              <a:rPr lang="fr-FR" sz="2400" dirty="0"/>
              <a:t> of </a:t>
            </a:r>
            <a:r>
              <a:rPr lang="fr-FR" sz="2400" dirty="0" err="1"/>
              <a:t>descriptors</a:t>
            </a:r>
            <a:endParaRPr lang="fr-FR" sz="24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88BDA6B-90B6-6A89-3093-0922B699DD20}"/>
              </a:ext>
            </a:extLst>
          </p:cNvPr>
          <p:cNvSpPr txBox="1"/>
          <p:nvPr/>
        </p:nvSpPr>
        <p:spPr>
          <a:xfrm>
            <a:off x="2995506" y="2658416"/>
            <a:ext cx="452721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F0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MFCCs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Voicing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Breathyness</a:t>
            </a:r>
            <a:r>
              <a:rPr lang="fr-FR" sz="2400" dirty="0"/>
              <a:t> / </a:t>
            </a:r>
            <a:r>
              <a:rPr lang="fr-FR" sz="2400" dirty="0" err="1"/>
              <a:t>Creakiness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 err="1"/>
              <a:t>Statistics</a:t>
            </a:r>
            <a:r>
              <a:rPr lang="fr-FR" sz="2400" dirty="0"/>
              <a:t> of all </a:t>
            </a:r>
            <a:r>
              <a:rPr lang="fr-FR" sz="2400" dirty="0" err="1"/>
              <a:t>descriptors</a:t>
            </a:r>
            <a:endParaRPr lang="fr-F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989557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01592-DEA8-CD1D-6A8E-CA051BBC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85AAA353-3055-E86F-3D52-3844495F808A}"/>
              </a:ext>
            </a:extLst>
          </p:cNvPr>
          <p:cNvSpPr txBox="1"/>
          <p:nvPr/>
        </p:nvSpPr>
        <p:spPr>
          <a:xfrm>
            <a:off x="489858" y="478972"/>
            <a:ext cx="47692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Brief 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75AE084-2F97-4F3D-F623-A344160641E6}"/>
              </a:ext>
            </a:extLst>
          </p:cNvPr>
          <p:cNvSpPr txBox="1"/>
          <p:nvPr/>
        </p:nvSpPr>
        <p:spPr>
          <a:xfrm>
            <a:off x="1110342" y="1284238"/>
            <a:ext cx="107550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Why</a:t>
            </a:r>
            <a:r>
              <a:rPr lang="fr-FR" sz="2400" b="1" dirty="0"/>
              <a:t> </a:t>
            </a:r>
            <a:r>
              <a:rPr lang="fr-FR" sz="2400" b="1" dirty="0" err="1"/>
              <a:t>using</a:t>
            </a:r>
            <a:r>
              <a:rPr lang="fr-FR" sz="2400" b="1" dirty="0"/>
              <a:t> </a:t>
            </a:r>
            <a:r>
              <a:rPr lang="fr-FR" sz="2400" b="1" dirty="0" err="1"/>
              <a:t>it</a:t>
            </a:r>
            <a:r>
              <a:rPr lang="fr-FR" sz="2400" b="1" dirty="0"/>
              <a:t>?</a:t>
            </a:r>
          </a:p>
          <a:p>
            <a:r>
              <a:rPr lang="fr-FR" sz="2400" dirty="0"/>
              <a:t>	- </a:t>
            </a:r>
            <a:r>
              <a:rPr lang="fr-FR" sz="2400" dirty="0" err="1"/>
              <a:t>reproducible</a:t>
            </a:r>
            <a:r>
              <a:rPr lang="fr-FR" sz="2400" dirty="0"/>
              <a:t> </a:t>
            </a:r>
            <a:r>
              <a:rPr lang="fr-FR" sz="2400" dirty="0" err="1"/>
              <a:t>results</a:t>
            </a:r>
            <a:endParaRPr lang="fr-FR" sz="2400" dirty="0"/>
          </a:p>
          <a:p>
            <a:r>
              <a:rPr lang="fr-FR" sz="2400" dirty="0"/>
              <a:t>	- gold standard in speech recognition </a:t>
            </a:r>
            <a:r>
              <a:rPr lang="fr-FR" sz="2400" dirty="0" err="1"/>
              <a:t>tasks</a:t>
            </a:r>
            <a:endParaRPr lang="fr-FR" sz="2400" dirty="0"/>
          </a:p>
          <a:p>
            <a:r>
              <a:rPr lang="fr-FR" sz="2400" dirty="0"/>
              <a:t>	- </a:t>
            </a:r>
            <a:r>
              <a:rPr lang="fr-FR" sz="2400" dirty="0" err="1"/>
              <a:t>cited</a:t>
            </a:r>
            <a:r>
              <a:rPr lang="fr-FR" sz="2400" dirty="0"/>
              <a:t> a lot (not a good argument)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A17EDE5-3DF9-6D33-E6A9-A87EF802E311}"/>
              </a:ext>
            </a:extLst>
          </p:cNvPr>
          <p:cNvSpPr txBox="1"/>
          <p:nvPr/>
        </p:nvSpPr>
        <p:spPr>
          <a:xfrm>
            <a:off x="1110342" y="2939143"/>
            <a:ext cx="109945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When</a:t>
            </a:r>
            <a:r>
              <a:rPr lang="fr-FR" sz="2400" b="1" dirty="0"/>
              <a:t> </a:t>
            </a:r>
            <a:r>
              <a:rPr lang="fr-FR" sz="2400" b="1" dirty="0" err="1"/>
              <a:t>using</a:t>
            </a:r>
            <a:r>
              <a:rPr lang="fr-FR" sz="2400" b="1" dirty="0"/>
              <a:t> </a:t>
            </a:r>
            <a:r>
              <a:rPr lang="fr-FR" sz="2400" b="1" dirty="0" err="1"/>
              <a:t>it</a:t>
            </a:r>
            <a:r>
              <a:rPr lang="fr-FR" sz="2400" b="1" dirty="0"/>
              <a:t>?</a:t>
            </a:r>
          </a:p>
          <a:p>
            <a:r>
              <a:rPr lang="fr-FR" sz="2400" dirty="0"/>
              <a:t>	- to </a:t>
            </a:r>
            <a:r>
              <a:rPr lang="fr-FR" sz="2400" dirty="0" err="1"/>
              <a:t>compute</a:t>
            </a:r>
            <a:r>
              <a:rPr lang="fr-FR" sz="2400" dirty="0"/>
              <a:t> speech </a:t>
            </a:r>
            <a:r>
              <a:rPr lang="fr-FR" sz="2400" dirty="0" err="1"/>
              <a:t>features</a:t>
            </a:r>
            <a:r>
              <a:rPr lang="fr-FR" sz="2400" dirty="0"/>
              <a:t> (</a:t>
            </a:r>
            <a:r>
              <a:rPr lang="fr-FR" sz="2400" dirty="0" err="1"/>
              <a:t>although</a:t>
            </a:r>
            <a:r>
              <a:rPr lang="fr-FR" sz="2400" dirty="0"/>
              <a:t> </a:t>
            </a:r>
            <a:r>
              <a:rPr lang="fr-FR" sz="2400" dirty="0" err="1"/>
              <a:t>there</a:t>
            </a:r>
            <a:r>
              <a:rPr lang="fr-FR" sz="2400" dirty="0"/>
              <a:t> are </a:t>
            </a:r>
            <a:r>
              <a:rPr lang="fr-FR" sz="2400" dirty="0" err="1"/>
              <a:t>many</a:t>
            </a:r>
            <a:r>
              <a:rPr lang="fr-FR" sz="2400" dirty="0"/>
              <a:t> </a:t>
            </a:r>
            <a:r>
              <a:rPr lang="fr-FR" sz="2400" dirty="0" err="1"/>
              <a:t>other</a:t>
            </a:r>
            <a:r>
              <a:rPr lang="fr-FR" sz="2400" dirty="0"/>
              <a:t> </a:t>
            </a:r>
            <a:r>
              <a:rPr lang="fr-FR" sz="2400" dirty="0" err="1"/>
              <a:t>ways</a:t>
            </a:r>
            <a:r>
              <a:rPr lang="fr-FR" sz="2400" dirty="0"/>
              <a:t>)</a:t>
            </a:r>
          </a:p>
          <a:p>
            <a:r>
              <a:rPr lang="fr-FR" sz="2400" dirty="0"/>
              <a:t>	- to run a control test (</a:t>
            </a:r>
            <a:r>
              <a:rPr lang="fr-FR" sz="2400" dirty="0" err="1"/>
              <a:t>reviewers</a:t>
            </a:r>
            <a:r>
              <a:rPr lang="fr-FR" sz="2400" dirty="0"/>
              <a:t> can/</a:t>
            </a:r>
            <a:r>
              <a:rPr lang="fr-FR" sz="2400" dirty="0" err="1"/>
              <a:t>will</a:t>
            </a:r>
            <a:r>
              <a:rPr lang="fr-FR" sz="2400" dirty="0"/>
              <a:t> </a:t>
            </a:r>
            <a:r>
              <a:rPr lang="fr-FR" sz="2400" dirty="0" err="1"/>
              <a:t>ask</a:t>
            </a:r>
            <a:r>
              <a:rPr lang="fr-FR" sz="2400" dirty="0"/>
              <a:t>)</a:t>
            </a:r>
          </a:p>
          <a:p>
            <a:r>
              <a:rPr lang="fr-FR" sz="2400" dirty="0"/>
              <a:t>	- to do machine </a:t>
            </a:r>
            <a:r>
              <a:rPr lang="fr-FR" sz="2400" dirty="0" err="1"/>
              <a:t>learning</a:t>
            </a:r>
            <a:r>
              <a:rPr lang="fr-FR" sz="2400" dirty="0"/>
              <a:t> (</a:t>
            </a:r>
            <a:r>
              <a:rPr lang="fr-FR" sz="2400" dirty="0" err="1"/>
              <a:t>classif</a:t>
            </a:r>
            <a:r>
              <a:rPr lang="fr-FR" sz="2400" dirty="0"/>
              <a:t>/</a:t>
            </a:r>
            <a:r>
              <a:rPr lang="fr-FR" sz="2400" dirty="0" err="1"/>
              <a:t>regression</a:t>
            </a:r>
            <a:r>
              <a:rPr lang="fr-FR" sz="2400" dirty="0"/>
              <a:t>) </a:t>
            </a:r>
            <a:r>
              <a:rPr lang="fr-FR" sz="2400" dirty="0" err="1"/>
              <a:t>with</a:t>
            </a:r>
            <a:r>
              <a:rPr lang="fr-FR" sz="2400" dirty="0"/>
              <a:t> a </a:t>
            </a:r>
            <a:r>
              <a:rPr lang="fr-FR" sz="2400" dirty="0" err="1"/>
              <a:t>feature</a:t>
            </a:r>
            <a:r>
              <a:rPr lang="fr-FR" sz="2400" dirty="0"/>
              <a:t> </a:t>
            </a:r>
            <a:r>
              <a:rPr lang="fr-FR" sz="2400" dirty="0" err="1"/>
              <a:t>based</a:t>
            </a:r>
            <a:r>
              <a:rPr lang="fr-FR" sz="2400" dirty="0"/>
              <a:t> </a:t>
            </a:r>
            <a:r>
              <a:rPr lang="fr-FR" sz="2400" dirty="0" err="1"/>
              <a:t>approach</a:t>
            </a:r>
            <a:endParaRPr lang="fr-FR" sz="24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FE6A178-5433-8D05-4F6D-2E93715D83C5}"/>
              </a:ext>
            </a:extLst>
          </p:cNvPr>
          <p:cNvSpPr txBox="1"/>
          <p:nvPr/>
        </p:nvSpPr>
        <p:spPr>
          <a:xfrm>
            <a:off x="1110342" y="4602540"/>
            <a:ext cx="1099457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Why</a:t>
            </a:r>
            <a:r>
              <a:rPr lang="fr-FR" sz="2400" b="1" dirty="0"/>
              <a:t> have I </a:t>
            </a:r>
            <a:r>
              <a:rPr lang="fr-FR" sz="2400" b="1" dirty="0" err="1"/>
              <a:t>used</a:t>
            </a:r>
            <a:r>
              <a:rPr lang="fr-FR" sz="2400" b="1" dirty="0"/>
              <a:t> </a:t>
            </a:r>
            <a:r>
              <a:rPr lang="fr-FR" sz="2400" b="1" dirty="0" err="1"/>
              <a:t>it</a:t>
            </a:r>
            <a:r>
              <a:rPr lang="fr-FR" sz="2400" b="1" dirty="0"/>
              <a:t>?</a:t>
            </a:r>
          </a:p>
          <a:p>
            <a:r>
              <a:rPr lang="fr-FR" sz="2400" dirty="0"/>
              <a:t>	- </a:t>
            </a:r>
            <a:r>
              <a:rPr lang="fr-FR" sz="2400" dirty="0" err="1"/>
              <a:t>because</a:t>
            </a:r>
            <a:r>
              <a:rPr lang="fr-FR" sz="2400" dirty="0"/>
              <a:t> a </a:t>
            </a:r>
            <a:r>
              <a:rPr lang="fr-FR" sz="2400" dirty="0" err="1"/>
              <a:t>reviewer</a:t>
            </a:r>
            <a:r>
              <a:rPr lang="fr-FR" sz="2400" dirty="0"/>
              <a:t> </a:t>
            </a:r>
            <a:r>
              <a:rPr lang="fr-FR" sz="2400" dirty="0" err="1"/>
              <a:t>ask</a:t>
            </a:r>
            <a:endParaRPr lang="fr-FR" sz="2400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C75B0B4-14FC-BA2F-730E-9BB8B4448456}"/>
              </a:ext>
            </a:extLst>
          </p:cNvPr>
          <p:cNvSpPr txBox="1"/>
          <p:nvPr/>
        </p:nvSpPr>
        <p:spPr>
          <a:xfrm>
            <a:off x="1110342" y="5571367"/>
            <a:ext cx="109945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Is </a:t>
            </a:r>
            <a:r>
              <a:rPr lang="fr-FR" sz="2400" b="1" dirty="0" err="1"/>
              <a:t>it</a:t>
            </a:r>
            <a:r>
              <a:rPr lang="fr-FR" sz="2400" b="1" dirty="0"/>
              <a:t> user-</a:t>
            </a:r>
            <a:r>
              <a:rPr lang="fr-FR" sz="2400" b="1" dirty="0" err="1"/>
              <a:t>friendly</a:t>
            </a:r>
            <a:r>
              <a:rPr lang="fr-FR" sz="2400" b="1" dirty="0"/>
              <a:t> and relevant for basic </a:t>
            </a:r>
            <a:r>
              <a:rPr lang="fr-FR" sz="2400" b="1" dirty="0" err="1"/>
              <a:t>research</a:t>
            </a:r>
            <a:r>
              <a:rPr lang="fr-FR" sz="2400" b="1" dirty="0"/>
              <a:t>?</a:t>
            </a:r>
          </a:p>
          <a:p>
            <a:r>
              <a:rPr lang="fr-FR" sz="2400" dirty="0"/>
              <a:t>	- not at all (</a:t>
            </a:r>
            <a:r>
              <a:rPr lang="fr-FR" sz="2400" dirty="0" err="1"/>
              <a:t>unless</a:t>
            </a:r>
            <a:r>
              <a:rPr lang="fr-FR" sz="2400" dirty="0"/>
              <a:t> </a:t>
            </a:r>
            <a:r>
              <a:rPr lang="fr-FR" sz="2400" dirty="0" err="1"/>
              <a:t>you</a:t>
            </a:r>
            <a:r>
              <a:rPr lang="fr-FR" sz="2400" dirty="0"/>
              <a:t> </a:t>
            </a:r>
            <a:r>
              <a:rPr lang="fr-FR" sz="2400" dirty="0" err="1"/>
              <a:t>want</a:t>
            </a:r>
            <a:r>
              <a:rPr lang="fr-FR" sz="2400" dirty="0"/>
              <a:t> to do engineering </a:t>
            </a:r>
            <a:r>
              <a:rPr lang="fr-FR" sz="2400" dirty="0" err="1"/>
              <a:t>development</a:t>
            </a:r>
            <a:r>
              <a:rPr lang="fr-FR" sz="2400" dirty="0"/>
              <a:t>)</a:t>
            </a:r>
          </a:p>
          <a:p>
            <a:r>
              <a:rPr lang="fr-FR" sz="2400" dirty="0"/>
              <a:t>	- </a:t>
            </a:r>
            <a:r>
              <a:rPr lang="fr-FR" sz="2400" dirty="0" err="1"/>
              <a:t>feature</a:t>
            </a:r>
            <a:r>
              <a:rPr lang="fr-FR" sz="2400" dirty="0"/>
              <a:t> </a:t>
            </a:r>
            <a:r>
              <a:rPr lang="fr-FR" sz="2400" dirty="0" err="1"/>
              <a:t>approach</a:t>
            </a:r>
            <a:r>
              <a:rPr lang="fr-FR" sz="2400" dirty="0"/>
              <a:t> </a:t>
            </a:r>
            <a:r>
              <a:rPr lang="fr-FR" sz="2400" dirty="0" err="1"/>
              <a:t>generalize</a:t>
            </a:r>
            <a:r>
              <a:rPr lang="fr-FR" sz="2400" dirty="0"/>
              <a:t> </a:t>
            </a:r>
            <a:r>
              <a:rPr lang="fr-FR" sz="2400" dirty="0" err="1"/>
              <a:t>badly</a:t>
            </a:r>
            <a:r>
              <a:rPr lang="fr-FR" sz="2400" dirty="0"/>
              <a:t> and </a:t>
            </a:r>
            <a:r>
              <a:rPr lang="fr-FR" sz="2400" dirty="0" err="1"/>
              <a:t>often</a:t>
            </a:r>
            <a:r>
              <a:rPr lang="fr-FR" sz="2400" dirty="0"/>
              <a:t> lead to black-boxes</a:t>
            </a:r>
          </a:p>
        </p:txBody>
      </p:sp>
    </p:spTree>
    <p:extLst>
      <p:ext uri="{BB962C8B-B14F-4D97-AF65-F5344CB8AC3E}">
        <p14:creationId xmlns:p14="http://schemas.microsoft.com/office/powerpoint/2010/main" val="141356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0DCAA-7019-7760-E371-70378514B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EA18C4C8-5396-6C4C-A44E-569726A86EE1}"/>
              </a:ext>
            </a:extLst>
          </p:cNvPr>
          <p:cNvSpPr txBox="1"/>
          <p:nvPr/>
        </p:nvSpPr>
        <p:spPr>
          <a:xfrm>
            <a:off x="489858" y="478972"/>
            <a:ext cx="47692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Brief introduction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7D749BD-4285-5459-EE49-F9F1BCFEB7ED}"/>
              </a:ext>
            </a:extLst>
          </p:cNvPr>
          <p:cNvSpPr txBox="1"/>
          <p:nvPr/>
        </p:nvSpPr>
        <p:spPr>
          <a:xfrm>
            <a:off x="338116" y="3136612"/>
            <a:ext cx="12620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/>
              <a:t>Data</a:t>
            </a:r>
            <a:endParaRPr lang="fr-FR" sz="32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AA5692C-5F8E-9237-EB9C-BC0E37533317}"/>
              </a:ext>
            </a:extLst>
          </p:cNvPr>
          <p:cNvSpPr txBox="1"/>
          <p:nvPr/>
        </p:nvSpPr>
        <p:spPr>
          <a:xfrm>
            <a:off x="2254326" y="2890391"/>
            <a:ext cx="274221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 err="1"/>
              <a:t>openSMILE</a:t>
            </a:r>
            <a:r>
              <a:rPr lang="fr-FR" sz="3200" b="1" dirty="0"/>
              <a:t> </a:t>
            </a:r>
            <a:r>
              <a:rPr lang="fr-FR" sz="3200" b="1" dirty="0" err="1"/>
              <a:t>features</a:t>
            </a:r>
            <a:endParaRPr lang="fr-FR" sz="32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047BC9F-1643-319F-779A-14DD584CD87D}"/>
              </a:ext>
            </a:extLst>
          </p:cNvPr>
          <p:cNvSpPr txBox="1"/>
          <p:nvPr/>
        </p:nvSpPr>
        <p:spPr>
          <a:xfrm>
            <a:off x="6491790" y="1036451"/>
            <a:ext cx="237308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 err="1"/>
              <a:t>Statistical</a:t>
            </a:r>
            <a:r>
              <a:rPr lang="fr-FR" sz="3200" b="1" dirty="0"/>
              <a:t> </a:t>
            </a:r>
            <a:r>
              <a:rPr lang="fr-FR" sz="3200" b="1" dirty="0" err="1"/>
              <a:t>inferences</a:t>
            </a:r>
            <a:r>
              <a:rPr lang="fr-FR" sz="3200" b="1" dirty="0"/>
              <a:t> of </a:t>
            </a:r>
            <a:r>
              <a:rPr lang="fr-FR" sz="3200" b="1" dirty="0" err="1"/>
              <a:t>separate</a:t>
            </a:r>
            <a:r>
              <a:rPr lang="fr-FR" sz="3200" b="1" dirty="0"/>
              <a:t> </a:t>
            </a:r>
            <a:r>
              <a:rPr lang="fr-FR" sz="3200" b="1" dirty="0" err="1"/>
              <a:t>features</a:t>
            </a:r>
            <a:endParaRPr lang="fr-FR" sz="320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B657344-F855-A698-1269-33DBB5C95A21}"/>
              </a:ext>
            </a:extLst>
          </p:cNvPr>
          <p:cNvSpPr txBox="1"/>
          <p:nvPr/>
        </p:nvSpPr>
        <p:spPr>
          <a:xfrm>
            <a:off x="6491789" y="4624119"/>
            <a:ext cx="21118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200" b="1" dirty="0"/>
              <a:t>Machine Learning</a:t>
            </a:r>
            <a:endParaRPr lang="fr-FR" sz="3200" dirty="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23896EFD-8204-6F16-8121-FF04C64AEB4C}"/>
              </a:ext>
            </a:extLst>
          </p:cNvPr>
          <p:cNvCxnSpPr>
            <a:stCxn id="5" idx="3"/>
            <a:endCxn id="2" idx="1"/>
          </p:cNvCxnSpPr>
          <p:nvPr/>
        </p:nvCxnSpPr>
        <p:spPr>
          <a:xfrm>
            <a:off x="1600202" y="3429000"/>
            <a:ext cx="654124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BA090DC0-D522-C679-B4F5-27DEAEC52A8B}"/>
              </a:ext>
            </a:extLst>
          </p:cNvPr>
          <p:cNvCxnSpPr>
            <a:stCxn id="2" idx="3"/>
            <a:endCxn id="3" idx="1"/>
          </p:cNvCxnSpPr>
          <p:nvPr/>
        </p:nvCxnSpPr>
        <p:spPr>
          <a:xfrm flipV="1">
            <a:off x="4996541" y="2067503"/>
            <a:ext cx="1495249" cy="136149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avec flèche 17">
            <a:extLst>
              <a:ext uri="{FF2B5EF4-FFF2-40B4-BE49-F238E27FC236}">
                <a16:creationId xmlns:a16="http://schemas.microsoft.com/office/drawing/2014/main" id="{F637BB08-2F4C-8CB2-D6C9-D702C983151B}"/>
              </a:ext>
            </a:extLst>
          </p:cNvPr>
          <p:cNvCxnSpPr>
            <a:stCxn id="2" idx="3"/>
            <a:endCxn id="11" idx="1"/>
          </p:cNvCxnSpPr>
          <p:nvPr/>
        </p:nvCxnSpPr>
        <p:spPr>
          <a:xfrm>
            <a:off x="4996541" y="3429000"/>
            <a:ext cx="1495248" cy="1733728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27A37AAD-7F22-B058-EA14-29248D7E23D1}"/>
              </a:ext>
            </a:extLst>
          </p:cNvPr>
          <p:cNvSpPr txBox="1"/>
          <p:nvPr/>
        </p:nvSpPr>
        <p:spPr>
          <a:xfrm>
            <a:off x="9660346" y="1559670"/>
            <a:ext cx="23730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i="1" dirty="0" err="1"/>
              <a:t>t</a:t>
            </a:r>
            <a:r>
              <a:rPr lang="fr-FR" sz="2000" i="1" dirty="0"/>
              <a:t>-test</a:t>
            </a:r>
          </a:p>
          <a:p>
            <a:pPr algn="ctr"/>
            <a:r>
              <a:rPr lang="fr-FR" sz="2000" i="1" dirty="0" err="1"/>
              <a:t>anova</a:t>
            </a:r>
            <a:endParaRPr lang="fr-FR" sz="2000" i="1" dirty="0"/>
          </a:p>
          <a:p>
            <a:pPr algn="ctr"/>
            <a:r>
              <a:rPr lang="fr-FR" sz="2000" i="1" dirty="0"/>
              <a:t>mixed </a:t>
            </a:r>
            <a:r>
              <a:rPr lang="fr-FR" sz="2000" i="1" dirty="0" err="1"/>
              <a:t>models</a:t>
            </a:r>
            <a:endParaRPr lang="fr-FR" sz="2000" i="1" dirty="0"/>
          </a:p>
          <a:p>
            <a:pPr algn="ctr"/>
            <a:r>
              <a:rPr lang="fr-FR" sz="2000" i="1" dirty="0"/>
              <a:t>…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DFDC68A-50D7-F8A6-084E-CC3374EE05B0}"/>
              </a:ext>
            </a:extLst>
          </p:cNvPr>
          <p:cNvSpPr txBox="1"/>
          <p:nvPr/>
        </p:nvSpPr>
        <p:spPr>
          <a:xfrm>
            <a:off x="9660346" y="4501008"/>
            <a:ext cx="23730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i="1" dirty="0"/>
              <a:t>SVM</a:t>
            </a:r>
          </a:p>
          <a:p>
            <a:pPr algn="ctr"/>
            <a:r>
              <a:rPr lang="fr-FR" sz="2000" i="1" dirty="0" err="1"/>
              <a:t>ridge-regression</a:t>
            </a:r>
            <a:endParaRPr lang="fr-FR" sz="2000" i="1" dirty="0"/>
          </a:p>
          <a:p>
            <a:pPr algn="ctr"/>
            <a:r>
              <a:rPr lang="fr-FR" sz="2000" i="1" dirty="0"/>
              <a:t>K-</a:t>
            </a:r>
            <a:r>
              <a:rPr lang="fr-FR" sz="2000" i="1" dirty="0" err="1"/>
              <a:t>means</a:t>
            </a:r>
            <a:endParaRPr lang="fr-FR" sz="2000" i="1" dirty="0"/>
          </a:p>
          <a:p>
            <a:pPr algn="ctr"/>
            <a:r>
              <a:rPr lang="fr-FR" sz="2000" i="1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26135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1" grpId="0"/>
      <p:bldP spid="19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041A9-77C9-36E0-16EA-B3BF7FED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6A32CF2-7400-F4AC-6D76-AFFBAC7C18B3}"/>
              </a:ext>
            </a:extLst>
          </p:cNvPr>
          <p:cNvSpPr txBox="1"/>
          <p:nvPr/>
        </p:nvSpPr>
        <p:spPr>
          <a:xfrm>
            <a:off x="489858" y="478972"/>
            <a:ext cx="42019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 err="1"/>
              <a:t>Examples</a:t>
            </a:r>
            <a:r>
              <a:rPr lang="fr-FR" sz="4800" dirty="0"/>
              <a:t> of use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15F2452-0131-C838-BD7F-474DF691BF03}"/>
              </a:ext>
            </a:extLst>
          </p:cNvPr>
          <p:cNvSpPr txBox="1"/>
          <p:nvPr/>
        </p:nvSpPr>
        <p:spPr>
          <a:xfrm>
            <a:off x="1123990" y="1584488"/>
            <a:ext cx="107550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 err="1"/>
              <a:t>Paralinguistic</a:t>
            </a:r>
            <a:r>
              <a:rPr lang="fr-FR" sz="2400" b="1" dirty="0"/>
              <a:t> </a:t>
            </a:r>
            <a:r>
              <a:rPr lang="fr-FR" sz="2400" b="1" dirty="0" err="1"/>
              <a:t>tasks</a:t>
            </a:r>
            <a:endParaRPr lang="fr-FR" sz="2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4F81924-2CFF-4B1C-6363-A05A7EEB8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63" y="2635309"/>
            <a:ext cx="4570450" cy="221765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976D8F-FCFD-D60D-0561-F69E4CCB4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785" y="1226142"/>
            <a:ext cx="4570451" cy="2156529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54089742-EDEE-5837-0288-EF37EB54F0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463" y="4915166"/>
            <a:ext cx="4570449" cy="178538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BCFB2A6F-A553-B515-664B-36DF697D89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4356" y="3740491"/>
            <a:ext cx="4570449" cy="252162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E8A8CA3A-9181-1141-0331-F3D403189F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0690" y="278640"/>
            <a:ext cx="4570450" cy="2007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6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14571-D672-8A7D-85D7-78A5F996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9B97E8EF-B1E1-0312-BE20-C250F0178FB0}"/>
              </a:ext>
            </a:extLst>
          </p:cNvPr>
          <p:cNvSpPr txBox="1"/>
          <p:nvPr/>
        </p:nvSpPr>
        <p:spPr>
          <a:xfrm>
            <a:off x="489858" y="478972"/>
            <a:ext cx="42019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 err="1"/>
              <a:t>Examples</a:t>
            </a:r>
            <a:r>
              <a:rPr lang="fr-FR" sz="4800" dirty="0"/>
              <a:t> of use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2791113-B170-7C1A-E903-02CD36466D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01"/>
          <a:stretch/>
        </p:blipFill>
        <p:spPr>
          <a:xfrm>
            <a:off x="5843423" y="2994613"/>
            <a:ext cx="5745327" cy="3560089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B0E56A18-E3A8-868D-6656-DDBED4F613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89" y="1680672"/>
            <a:ext cx="5332112" cy="1846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06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8B7DC-1848-8198-70D9-A16C645EE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7AB2B493-C6FE-69B1-A2F4-750EA447C67B}"/>
              </a:ext>
            </a:extLst>
          </p:cNvPr>
          <p:cNvSpPr txBox="1"/>
          <p:nvPr/>
        </p:nvSpPr>
        <p:spPr>
          <a:xfrm>
            <a:off x="489858" y="478972"/>
            <a:ext cx="3292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How to use?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14C197E-1968-8DCD-94EA-9F31658B38B8}"/>
              </a:ext>
            </a:extLst>
          </p:cNvPr>
          <p:cNvSpPr txBox="1"/>
          <p:nvPr/>
        </p:nvSpPr>
        <p:spPr>
          <a:xfrm>
            <a:off x="1123990" y="1536174"/>
            <a:ext cx="10755087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1. </a:t>
            </a:r>
            <a:r>
              <a:rPr lang="fr-FR" sz="2400" b="1" dirty="0" err="1"/>
              <a:t>Which</a:t>
            </a:r>
            <a:r>
              <a:rPr lang="fr-FR" sz="2400" b="1" dirty="0"/>
              <a:t> </a:t>
            </a:r>
            <a:r>
              <a:rPr lang="fr-FR" sz="2400" b="1" dirty="0" err="1"/>
              <a:t>openSMILE</a:t>
            </a:r>
            <a:r>
              <a:rPr lang="fr-FR" sz="2400" b="1" dirty="0"/>
              <a:t> </a:t>
            </a:r>
            <a:r>
              <a:rPr lang="fr-FR" sz="2400" b="1" dirty="0" err="1"/>
              <a:t>features</a:t>
            </a:r>
            <a:r>
              <a:rPr lang="fr-FR" sz="2400" b="1" dirty="0"/>
              <a:t> </a:t>
            </a:r>
            <a:r>
              <a:rPr lang="fr-FR" sz="2400" b="1" dirty="0" err="1"/>
              <a:t>we</a:t>
            </a:r>
            <a:r>
              <a:rPr lang="fr-FR" sz="2400" b="1" dirty="0"/>
              <a:t> </a:t>
            </a:r>
            <a:r>
              <a:rPr lang="fr-FR" sz="2400" b="1" dirty="0" err="1"/>
              <a:t>want</a:t>
            </a:r>
            <a:r>
              <a:rPr lang="fr-FR" sz="2400" b="1" dirty="0"/>
              <a:t> to </a:t>
            </a:r>
            <a:r>
              <a:rPr lang="fr-FR" sz="2400" b="1" dirty="0" err="1"/>
              <a:t>extract</a:t>
            </a:r>
            <a:endParaRPr lang="fr-FR" sz="24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/>
              <a:t>The config file </a:t>
            </a:r>
            <a:r>
              <a:rPr lang="fr-FR" sz="2400" dirty="0" err="1"/>
              <a:t>problem</a:t>
            </a:r>
            <a:endParaRPr lang="fr-FR" sz="24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/>
              <a:t>Solution: </a:t>
            </a:r>
            <a:r>
              <a:rPr lang="fr-FR" sz="2400" dirty="0" err="1"/>
              <a:t>always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the dame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 err="1"/>
              <a:t>Ask</a:t>
            </a:r>
            <a:r>
              <a:rPr lang="fr-FR" sz="2400" dirty="0"/>
              <a:t> Bjorn Schuller for a </a:t>
            </a:r>
            <a:r>
              <a:rPr lang="fr-FR" sz="2400" dirty="0" err="1"/>
              <a:t>better</a:t>
            </a:r>
            <a:r>
              <a:rPr lang="fr-FR" sz="2400" dirty="0"/>
              <a:t> tuto </a:t>
            </a:r>
            <a:r>
              <a:rPr lang="fr-FR" sz="2400" dirty="0">
                <a:sym typeface="Wingdings" pitchFamily="2" charset="2"/>
              </a:rPr>
              <a:t>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i="1" dirty="0" err="1">
                <a:sym typeface="Wingdings" pitchFamily="2" charset="2"/>
              </a:rPr>
              <a:t>what</a:t>
            </a:r>
            <a:r>
              <a:rPr lang="fr-FR" i="1" dirty="0">
                <a:sym typeface="Wingdings" pitchFamily="2" charset="2"/>
              </a:rPr>
              <a:t> </a:t>
            </a:r>
            <a:r>
              <a:rPr lang="fr-FR" i="1" dirty="0" err="1">
                <a:sym typeface="Wingdings" pitchFamily="2" charset="2"/>
              </a:rPr>
              <a:t>is</a:t>
            </a:r>
            <a:r>
              <a:rPr lang="fr-FR" i="1" dirty="0">
                <a:sym typeface="Wingdings" pitchFamily="2" charset="2"/>
              </a:rPr>
              <a:t> </a:t>
            </a:r>
            <a:r>
              <a:rPr lang="fr-FR" i="1" dirty="0" err="1">
                <a:sym typeface="Wingdings" pitchFamily="2" charset="2"/>
              </a:rPr>
              <a:t>used</a:t>
            </a:r>
            <a:endParaRPr lang="fr-FR" i="1" dirty="0">
              <a:sym typeface="Wingdings" pitchFamily="2" charset="2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5A3A991-C55C-6A35-6A8F-8BEA013E840F}"/>
              </a:ext>
            </a:extLst>
          </p:cNvPr>
          <p:cNvSpPr txBox="1"/>
          <p:nvPr/>
        </p:nvSpPr>
        <p:spPr>
          <a:xfrm>
            <a:off x="1123988" y="3500652"/>
            <a:ext cx="107550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2. </a:t>
            </a:r>
            <a:r>
              <a:rPr lang="fr-FR" sz="2400" b="1" dirty="0" err="1"/>
              <a:t>Extracting</a:t>
            </a:r>
            <a:r>
              <a:rPr lang="fr-FR" sz="2400" b="1" dirty="0"/>
              <a:t> </a:t>
            </a:r>
            <a:r>
              <a:rPr lang="fr-FR" sz="2400" b="1" dirty="0" err="1"/>
              <a:t>openSMILE</a:t>
            </a:r>
            <a:r>
              <a:rPr lang="fr-FR" sz="2400" b="1" dirty="0"/>
              <a:t> </a:t>
            </a:r>
            <a:r>
              <a:rPr lang="fr-FR" sz="2400" b="1" dirty="0" err="1"/>
              <a:t>features</a:t>
            </a:r>
            <a:endParaRPr lang="fr-FR" sz="24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/>
              <a:t>Use the code </a:t>
            </a:r>
            <a:r>
              <a:rPr lang="fr-FR" sz="2400" i="1" dirty="0"/>
              <a:t>‘00_extractOpenSMILE_features.py’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1CE158F-4DCE-2C0D-FFA4-3BCAA0D20BD9}"/>
              </a:ext>
            </a:extLst>
          </p:cNvPr>
          <p:cNvSpPr txBox="1"/>
          <p:nvPr/>
        </p:nvSpPr>
        <p:spPr>
          <a:xfrm>
            <a:off x="1123989" y="4371625"/>
            <a:ext cx="107550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/>
              <a:t>3. </a:t>
            </a:r>
            <a:r>
              <a:rPr lang="fr-FR" sz="2400" b="1" dirty="0" err="1"/>
              <a:t>Organize</a:t>
            </a:r>
            <a:r>
              <a:rPr lang="fr-FR" sz="2400" b="1" dirty="0"/>
              <a:t> </a:t>
            </a:r>
            <a:r>
              <a:rPr lang="fr-FR" sz="2400" b="1" dirty="0" err="1"/>
              <a:t>openSMILE</a:t>
            </a:r>
            <a:r>
              <a:rPr lang="fr-FR" sz="2400" b="1" dirty="0"/>
              <a:t> </a:t>
            </a:r>
            <a:r>
              <a:rPr lang="fr-FR" sz="2400" b="1" dirty="0" err="1"/>
              <a:t>features</a:t>
            </a:r>
            <a:endParaRPr lang="fr-FR" sz="24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fr-FR" sz="2400" dirty="0"/>
              <a:t>Use the code ‘</a:t>
            </a:r>
            <a:r>
              <a:rPr lang="fr-FR" sz="2400" i="1" dirty="0"/>
              <a:t>01_reorganize_features.py</a:t>
            </a:r>
            <a:r>
              <a:rPr lang="fr-FR" sz="2400" dirty="0"/>
              <a:t>’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7AF228C-4C92-B997-440B-4B617E8B97B4}"/>
              </a:ext>
            </a:extLst>
          </p:cNvPr>
          <p:cNvSpPr txBox="1"/>
          <p:nvPr/>
        </p:nvSpPr>
        <p:spPr>
          <a:xfrm>
            <a:off x="1123987" y="5320441"/>
            <a:ext cx="85113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ym typeface="Wingdings" pitchFamily="2" charset="2"/>
              </a:rPr>
              <a:t>4. Do the stat/ML </a:t>
            </a:r>
            <a:r>
              <a:rPr lang="fr-FR" sz="2400" b="1" dirty="0" err="1">
                <a:sym typeface="Wingdings" pitchFamily="2" charset="2"/>
              </a:rPr>
              <a:t>you</a:t>
            </a:r>
            <a:r>
              <a:rPr lang="fr-FR" sz="2400" b="1" dirty="0">
                <a:sym typeface="Wingdings" pitchFamily="2" charset="2"/>
              </a:rPr>
              <a:t> </a:t>
            </a:r>
            <a:r>
              <a:rPr lang="fr-FR" sz="2400" b="1" dirty="0" err="1">
                <a:sym typeface="Wingdings" pitchFamily="2" charset="2"/>
              </a:rPr>
              <a:t>want</a:t>
            </a:r>
            <a:r>
              <a:rPr lang="fr-FR" sz="2400" b="1" dirty="0">
                <a:sym typeface="Wingdings" pitchFamily="2" charset="2"/>
              </a:rPr>
              <a:t> to do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FR" sz="2400" dirty="0"/>
              <a:t>Use the code ‘</a:t>
            </a:r>
            <a:r>
              <a:rPr lang="fr-FR" sz="2400" i="1" dirty="0"/>
              <a:t>02_stats.py</a:t>
            </a:r>
            <a:r>
              <a:rPr lang="fr-FR" sz="2400" dirty="0"/>
              <a:t>’ &amp; ‘03_ML.py’</a:t>
            </a:r>
            <a:endParaRPr lang="fr-FR" sz="2400" b="1" dirty="0">
              <a:sym typeface="Wingdings" pitchFamily="2" charset="2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8DD19B-2C42-2C08-7F9B-87928D299390}"/>
              </a:ext>
            </a:extLst>
          </p:cNvPr>
          <p:cNvSpPr txBox="1"/>
          <p:nvPr/>
        </p:nvSpPr>
        <p:spPr>
          <a:xfrm>
            <a:off x="1123988" y="6169642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sym typeface="Wingdings" pitchFamily="2" charset="2"/>
              </a:rPr>
              <a:t>5. Use </a:t>
            </a:r>
            <a:r>
              <a:rPr lang="fr-FR" i="1" dirty="0" err="1">
                <a:sym typeface="Wingdings" pitchFamily="2" charset="2"/>
              </a:rPr>
              <a:t>my</a:t>
            </a:r>
            <a:r>
              <a:rPr lang="fr-FR" i="1" dirty="0">
                <a:sym typeface="Wingdings" pitchFamily="2" charset="2"/>
              </a:rPr>
              <a:t> </a:t>
            </a:r>
            <a:r>
              <a:rPr lang="fr-FR" i="1" dirty="0" err="1">
                <a:sym typeface="Wingdings" pitchFamily="2" charset="2"/>
              </a:rPr>
              <a:t>xAI</a:t>
            </a:r>
            <a:r>
              <a:rPr lang="fr-FR" i="1" dirty="0">
                <a:sym typeface="Wingdings" pitchFamily="2" charset="2"/>
              </a:rPr>
              <a:t> </a:t>
            </a:r>
            <a:r>
              <a:rPr lang="fr-FR" i="1" dirty="0" err="1">
                <a:sym typeface="Wingdings" pitchFamily="2" charset="2"/>
              </a:rPr>
              <a:t>framework</a:t>
            </a:r>
            <a:r>
              <a:rPr lang="fr-FR" i="1" dirty="0">
                <a:sym typeface="Wingdings" pitchFamily="2" charset="2"/>
              </a:rPr>
              <a:t> to </a:t>
            </a:r>
            <a:r>
              <a:rPr lang="fr-FR" i="1" dirty="0" err="1">
                <a:sym typeface="Wingdings" pitchFamily="2" charset="2"/>
              </a:rPr>
              <a:t>understand</a:t>
            </a:r>
            <a:r>
              <a:rPr lang="fr-FR" i="1" dirty="0">
                <a:sym typeface="Wingdings" pitchFamily="2" charset="2"/>
              </a:rPr>
              <a:t> </a:t>
            </a:r>
            <a:r>
              <a:rPr lang="fr-FR" i="1" dirty="0" err="1">
                <a:sym typeface="Wingdings" pitchFamily="2" charset="2"/>
              </a:rPr>
              <a:t>what</a:t>
            </a:r>
            <a:r>
              <a:rPr lang="fr-FR" i="1" dirty="0">
                <a:sym typeface="Wingdings" pitchFamily="2" charset="2"/>
              </a:rPr>
              <a:t> </a:t>
            </a:r>
            <a:r>
              <a:rPr lang="fr-FR" i="1" dirty="0" err="1">
                <a:sym typeface="Wingdings" pitchFamily="2" charset="2"/>
              </a:rPr>
              <a:t>is</a:t>
            </a:r>
            <a:r>
              <a:rPr lang="fr-FR" i="1" dirty="0">
                <a:sym typeface="Wingdings" pitchFamily="2" charset="2"/>
              </a:rPr>
              <a:t> </a:t>
            </a:r>
            <a:r>
              <a:rPr lang="fr-FR" i="1" dirty="0" err="1">
                <a:sym typeface="Wingdings" pitchFamily="2" charset="2"/>
              </a:rPr>
              <a:t>used</a:t>
            </a:r>
            <a:endParaRPr lang="fr-FR" i="1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19538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3565A-DF09-521A-3ABA-517348DA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4CF97FC4-CB1D-FB04-34AA-22F71E98BF49}"/>
              </a:ext>
            </a:extLst>
          </p:cNvPr>
          <p:cNvSpPr txBox="1"/>
          <p:nvPr/>
        </p:nvSpPr>
        <p:spPr>
          <a:xfrm>
            <a:off x="489858" y="478972"/>
            <a:ext cx="329244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How to use?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C3B6C8-5CD2-A10B-7665-4F629ACC1CA0}"/>
              </a:ext>
            </a:extLst>
          </p:cNvPr>
          <p:cNvSpPr txBox="1"/>
          <p:nvPr/>
        </p:nvSpPr>
        <p:spPr>
          <a:xfrm>
            <a:off x="973861" y="1690136"/>
            <a:ext cx="8511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ym typeface="Wingdings" pitchFamily="2" charset="2"/>
              </a:rPr>
              <a:t>Stats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12D23E70-081E-E81E-F434-81CC473D5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09" y="2299411"/>
            <a:ext cx="5082255" cy="3811691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E5E29248-F107-F470-FE1B-12D196D1CEC6}"/>
              </a:ext>
            </a:extLst>
          </p:cNvPr>
          <p:cNvSpPr txBox="1"/>
          <p:nvPr/>
        </p:nvSpPr>
        <p:spPr>
          <a:xfrm>
            <a:off x="7199515" y="1690136"/>
            <a:ext cx="851133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ym typeface="Wingdings" pitchFamily="2" charset="2"/>
              </a:rPr>
              <a:t>ML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E7D0521-374C-9015-0F37-FBA00DC55855}"/>
              </a:ext>
            </a:extLst>
          </p:cNvPr>
          <p:cNvSpPr txBox="1"/>
          <p:nvPr/>
        </p:nvSpPr>
        <p:spPr>
          <a:xfrm>
            <a:off x="7199515" y="2301135"/>
            <a:ext cx="489240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ym typeface="Wingdings" pitchFamily="2" charset="2"/>
              </a:rPr>
              <a:t>PCA =&gt; RBF+SVM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ym typeface="Wingdings" pitchFamily="2" charset="2"/>
              </a:rPr>
              <a:t>20 components, 86% variance </a:t>
            </a:r>
            <a:r>
              <a:rPr lang="fr-FR" sz="2000" dirty="0" err="1">
                <a:sym typeface="Wingdings" pitchFamily="2" charset="2"/>
              </a:rPr>
              <a:t>explained</a:t>
            </a:r>
            <a:endParaRPr lang="fr-FR" sz="2000" dirty="0"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ym typeface="Wingdings" pitchFamily="2" charset="2"/>
              </a:rPr>
              <a:t>cross-val, 10-seeds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000" dirty="0">
              <a:sym typeface="Wingdings" pitchFamily="2" charset="2"/>
            </a:endParaRPr>
          </a:p>
          <a:p>
            <a:r>
              <a:rPr lang="fr-FR" sz="2000" b="1" dirty="0" err="1">
                <a:sym typeface="Wingdings" pitchFamily="2" charset="2"/>
              </a:rPr>
              <a:t>Results</a:t>
            </a:r>
            <a:endParaRPr lang="fr-FR" sz="2000" b="1" dirty="0">
              <a:sym typeface="Wingdings" pitchFamily="2" charset="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sym typeface="Wingdings" pitchFamily="2" charset="2"/>
              </a:rPr>
              <a:t>Ids</a:t>
            </a:r>
            <a:r>
              <a:rPr lang="fr-FR" sz="2000" dirty="0">
                <a:sym typeface="Wingdings" pitchFamily="2" charset="2"/>
              </a:rPr>
              <a:t>: </a:t>
            </a:r>
            <a:r>
              <a:rPr lang="fr-FR" sz="2000" dirty="0" err="1">
                <a:sym typeface="Wingdings" pitchFamily="2" charset="2"/>
              </a:rPr>
              <a:t>Bacc</a:t>
            </a:r>
            <a:r>
              <a:rPr lang="fr-FR" sz="2000" dirty="0">
                <a:sym typeface="Wingdings" pitchFamily="2" charset="2"/>
              </a:rPr>
              <a:t>: M=.38, SD=.12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 err="1">
                <a:sym typeface="Wingdings" pitchFamily="2" charset="2"/>
              </a:rPr>
              <a:t>Species</a:t>
            </a:r>
            <a:r>
              <a:rPr lang="fr-FR" sz="2000" dirty="0">
                <a:sym typeface="Wingdings" pitchFamily="2" charset="2"/>
              </a:rPr>
              <a:t>: </a:t>
            </a:r>
            <a:r>
              <a:rPr lang="fr-FR" sz="2000" dirty="0" err="1">
                <a:sym typeface="Wingdings" pitchFamily="2" charset="2"/>
              </a:rPr>
              <a:t>Bacc</a:t>
            </a:r>
            <a:r>
              <a:rPr lang="fr-FR" sz="2000" dirty="0">
                <a:sym typeface="Wingdings" pitchFamily="2" charset="2"/>
              </a:rPr>
              <a:t>: M=.90, SD=.09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F6671522-4BE8-0385-3546-3C24B361FBD3}"/>
              </a:ext>
            </a:extLst>
          </p:cNvPr>
          <p:cNvSpPr txBox="1"/>
          <p:nvPr/>
        </p:nvSpPr>
        <p:spPr>
          <a:xfrm>
            <a:off x="7767125" y="5275168"/>
            <a:ext cx="29347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600" b="1" dirty="0">
                <a:sym typeface="Wingdings" pitchFamily="2" charset="2"/>
              </a:rPr>
              <a:t>Black-box…</a:t>
            </a:r>
          </a:p>
        </p:txBody>
      </p:sp>
    </p:spTree>
    <p:extLst>
      <p:ext uri="{BB962C8B-B14F-4D97-AF65-F5344CB8AC3E}">
        <p14:creationId xmlns:p14="http://schemas.microsoft.com/office/powerpoint/2010/main" val="312487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63382-B05E-21CA-ABD9-37D738EF3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2E8AB41F-3E67-EDC1-5B2C-583CB7683A2F}"/>
              </a:ext>
            </a:extLst>
          </p:cNvPr>
          <p:cNvSpPr txBox="1"/>
          <p:nvPr/>
        </p:nvSpPr>
        <p:spPr>
          <a:xfrm>
            <a:off x="489858" y="478972"/>
            <a:ext cx="4257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 err="1"/>
              <a:t>Which</a:t>
            </a:r>
            <a:r>
              <a:rPr lang="fr-FR" sz="4800" dirty="0"/>
              <a:t> </a:t>
            </a:r>
            <a:r>
              <a:rPr lang="fr-FR" sz="4800" dirty="0" err="1"/>
              <a:t>features</a:t>
            </a:r>
            <a:r>
              <a:rPr lang="fr-FR" sz="4800" dirty="0"/>
              <a:t>?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A1A8FD4-9E3C-2593-804D-2E0373952342}"/>
              </a:ext>
            </a:extLst>
          </p:cNvPr>
          <p:cNvSpPr txBox="1"/>
          <p:nvPr/>
        </p:nvSpPr>
        <p:spPr>
          <a:xfrm>
            <a:off x="2248990" y="1646437"/>
            <a:ext cx="88952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dirty="0" err="1"/>
              <a:t>Bubbles</a:t>
            </a:r>
            <a:r>
              <a:rPr lang="fr-FR" sz="4800" dirty="0"/>
              <a:t> &amp; Reverse </a:t>
            </a:r>
            <a:r>
              <a:rPr lang="fr-FR" sz="4800" dirty="0" err="1"/>
              <a:t>correlation</a:t>
            </a:r>
            <a:r>
              <a:rPr lang="fr-FR" sz="4800" dirty="0"/>
              <a:t>!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39098122-B0F1-6E8B-90EF-1747D2C906EA}"/>
              </a:ext>
            </a:extLst>
          </p:cNvPr>
          <p:cNvSpPr txBox="1"/>
          <p:nvPr/>
        </p:nvSpPr>
        <p:spPr>
          <a:xfrm>
            <a:off x="785988" y="3465513"/>
            <a:ext cx="1062002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000" dirty="0"/>
              <a:t>1. </a:t>
            </a:r>
            <a:r>
              <a:rPr lang="fr-FR" sz="4000" dirty="0" err="1"/>
              <a:t>Add</a:t>
            </a:r>
            <a:r>
              <a:rPr lang="fr-FR" sz="4000" dirty="0"/>
              <a:t>/</a:t>
            </a:r>
            <a:r>
              <a:rPr lang="fr-FR" sz="4000" dirty="0" err="1"/>
              <a:t>Multiply</a:t>
            </a:r>
            <a:r>
              <a:rPr lang="fr-FR" sz="4000" dirty="0"/>
              <a:t> noise at the input of the classifier</a:t>
            </a:r>
          </a:p>
          <a:p>
            <a:r>
              <a:rPr lang="fr-FR" sz="4000" dirty="0"/>
              <a:t>2. Reverse </a:t>
            </a:r>
            <a:r>
              <a:rPr lang="fr-FR" sz="4000" dirty="0" err="1"/>
              <a:t>correlate</a:t>
            </a:r>
            <a:r>
              <a:rPr lang="fr-FR" sz="4000" dirty="0"/>
              <a:t> </a:t>
            </a:r>
            <a:r>
              <a:rPr lang="fr-FR" sz="4000" dirty="0" err="1"/>
              <a:t>it</a:t>
            </a:r>
            <a:r>
              <a:rPr lang="fr-FR" sz="4000" dirty="0"/>
              <a:t> </a:t>
            </a:r>
            <a:r>
              <a:rPr lang="fr-FR" sz="4000" dirty="0" err="1"/>
              <a:t>with</a:t>
            </a:r>
            <a:r>
              <a:rPr lang="fr-FR" sz="4000" dirty="0"/>
              <a:t> CLF </a:t>
            </a:r>
            <a:r>
              <a:rPr lang="fr-FR" sz="4000" dirty="0" err="1"/>
              <a:t>decisions</a:t>
            </a:r>
            <a:endParaRPr lang="fr-FR" sz="4000" dirty="0"/>
          </a:p>
          <a:p>
            <a:r>
              <a:rPr lang="fr-FR" sz="4000" dirty="0"/>
              <a:t>3. Look at the important/</a:t>
            </a:r>
            <a:r>
              <a:rPr lang="fr-FR" sz="4000" dirty="0" err="1"/>
              <a:t>prototypical</a:t>
            </a:r>
            <a:r>
              <a:rPr lang="fr-FR" sz="4000" dirty="0"/>
              <a:t> </a:t>
            </a:r>
            <a:r>
              <a:rPr lang="fr-FR" sz="4000" dirty="0" err="1"/>
              <a:t>features</a:t>
            </a:r>
            <a:r>
              <a:rPr lang="fr-FR" sz="4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85288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A474-90FD-7AA8-0DE3-677D7EBB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A5DF5B7F-B13C-3551-6858-591B51FB42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56" y="1938729"/>
            <a:ext cx="4082993" cy="3064460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6E8A877C-C817-FF9D-D665-AD1AE7B72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9871" y="1938729"/>
            <a:ext cx="4082993" cy="306446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6CB8626B-6C00-8DF7-5580-B8F867580E05}"/>
              </a:ext>
            </a:extLst>
          </p:cNvPr>
          <p:cNvSpPr txBox="1"/>
          <p:nvPr/>
        </p:nvSpPr>
        <p:spPr>
          <a:xfrm>
            <a:off x="489858" y="478972"/>
            <a:ext cx="4257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 err="1"/>
              <a:t>Which</a:t>
            </a:r>
            <a:r>
              <a:rPr lang="fr-FR" sz="4800" dirty="0"/>
              <a:t> </a:t>
            </a:r>
            <a:r>
              <a:rPr lang="fr-FR" sz="4800" dirty="0" err="1"/>
              <a:t>features</a:t>
            </a:r>
            <a:r>
              <a:rPr lang="fr-FR" sz="4800" dirty="0"/>
              <a:t>?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8904754-217B-6C60-ED77-FA6F8B01EC4D}"/>
              </a:ext>
            </a:extLst>
          </p:cNvPr>
          <p:cNvSpPr txBox="1"/>
          <p:nvPr/>
        </p:nvSpPr>
        <p:spPr>
          <a:xfrm>
            <a:off x="7960966" y="158829"/>
            <a:ext cx="21788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 err="1"/>
              <a:t>Bubbles</a:t>
            </a:r>
            <a:endParaRPr lang="fr-FR" sz="48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B0016CA-DC62-0DEE-AD0A-2EE5F34FC9CA}"/>
              </a:ext>
            </a:extLst>
          </p:cNvPr>
          <p:cNvSpPr txBox="1"/>
          <p:nvPr/>
        </p:nvSpPr>
        <p:spPr>
          <a:xfrm>
            <a:off x="1934683" y="1317801"/>
            <a:ext cx="25161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i="1" dirty="0" err="1"/>
              <a:t>identities</a:t>
            </a:r>
            <a:endParaRPr lang="fr-FR" sz="4800" i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9AE1F94-885A-D324-E5A8-33C05FC7BD6F}"/>
              </a:ext>
            </a:extLst>
          </p:cNvPr>
          <p:cNvSpPr txBox="1"/>
          <p:nvPr/>
        </p:nvSpPr>
        <p:spPr>
          <a:xfrm>
            <a:off x="8069169" y="1317801"/>
            <a:ext cx="19623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i="1" dirty="0" err="1"/>
              <a:t>species</a:t>
            </a:r>
            <a:endParaRPr lang="fr-FR" sz="4800" i="1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D775E8E-CEB1-098F-7C06-02CDB1D9CA67}"/>
              </a:ext>
            </a:extLst>
          </p:cNvPr>
          <p:cNvSpPr txBox="1"/>
          <p:nvPr/>
        </p:nvSpPr>
        <p:spPr>
          <a:xfrm>
            <a:off x="1337230" y="5314176"/>
            <a:ext cx="37110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" dirty="0"/>
              <a:t>'F0final_sma_qmean' 'F0final_sma_peakMean' 'F0final_sma_linregc1’  'F0final_sma_linregc2' 'F0final_sma_linregerrQ' 'F0final_sma_qregc1’  'F0final_sma_downleveltime90' 'voicingFinalUnclipped_sma_linregc2’  '</a:t>
            </a:r>
            <a:r>
              <a:rPr lang="fr-FR" sz="600" dirty="0" err="1"/>
              <a:t>voicingFinalUnclipped_sma_risetime</a:t>
            </a:r>
            <a:r>
              <a:rPr lang="fr-FR" sz="600" dirty="0"/>
              <a:t>' '</a:t>
            </a:r>
            <a:r>
              <a:rPr lang="fr-FR" sz="600" dirty="0" err="1"/>
              <a:t>voicingFinalUnclipped_sma_falltime</a:t>
            </a:r>
            <a:r>
              <a:rPr lang="fr-FR" sz="600" dirty="0"/>
              <a:t>’  '</a:t>
            </a:r>
            <a:r>
              <a:rPr lang="fr-FR" sz="600" dirty="0" err="1"/>
              <a:t>jitterLocal_sma_nzqmean</a:t>
            </a:r>
            <a:r>
              <a:rPr lang="fr-FR" sz="600" dirty="0"/>
              <a:t>' '</a:t>
            </a:r>
            <a:r>
              <a:rPr lang="fr-FR" sz="600" dirty="0" err="1"/>
              <a:t>jitterLocal_sma_skewness</a:t>
            </a:r>
            <a:r>
              <a:rPr lang="fr-FR" sz="600" dirty="0"/>
              <a:t>’  '</a:t>
            </a:r>
            <a:r>
              <a:rPr lang="fr-FR" sz="600" dirty="0" err="1"/>
              <a:t>jitterLocal_sma_lpc</a:t>
            </a:r>
            <a:r>
              <a:rPr lang="fr-FR" sz="600" dirty="0"/>
              <a:t>' '</a:t>
            </a:r>
            <a:r>
              <a:rPr lang="fr-FR" sz="600" dirty="0" err="1"/>
              <a:t>shimmerLocal_sma</a:t>
            </a:r>
            <a:r>
              <a:rPr lang="fr-FR" sz="600" dirty="0"/>
              <a:t>_(</a:t>
            </a:r>
            <a:r>
              <a:rPr lang="fr-FR" sz="600" dirty="0" err="1"/>
              <a:t>null</a:t>
            </a:r>
            <a:r>
              <a:rPr lang="fr-FR" sz="600" dirty="0"/>
              <a:t>)0' '</a:t>
            </a:r>
            <a:r>
              <a:rPr lang="fr-FR" sz="600" dirty="0" err="1"/>
              <a:t>logHNR_sma_nnz</a:t>
            </a:r>
            <a:r>
              <a:rPr lang="fr-FR" sz="600" dirty="0"/>
              <a:t>’ 'logHNR_sma_downleveltime50' '</a:t>
            </a:r>
            <a:r>
              <a:rPr lang="fr-FR" sz="600" dirty="0" err="1"/>
              <a:t>logHNR_sma_leftctime</a:t>
            </a:r>
            <a:r>
              <a:rPr lang="fr-FR" sz="600" dirty="0"/>
              <a:t>’  'F0final_sma_de_nzamean' 'F0final_sma_de_peakMeanMeanDist’  'F0final_sma_de_qregc3' '</a:t>
            </a:r>
            <a:r>
              <a:rPr lang="fr-FR" sz="600" dirty="0" err="1"/>
              <a:t>voicingFinalUnclipped_sma_de_amean</a:t>
            </a:r>
            <a:r>
              <a:rPr lang="fr-FR" sz="600" dirty="0"/>
              <a:t>’  'voicingFinalUnclipped_sma_de_qregc1’  'voicingFinalUnclipped_sma_de_qregc2’  '</a:t>
            </a:r>
            <a:r>
              <a:rPr lang="fr-FR" sz="600" dirty="0" err="1"/>
              <a:t>voicingFinalUnclipped_sma_de</a:t>
            </a:r>
            <a:r>
              <a:rPr lang="fr-FR" sz="600" dirty="0"/>
              <a:t>_(</a:t>
            </a:r>
            <a:r>
              <a:rPr lang="fr-FR" sz="600" dirty="0" err="1"/>
              <a:t>null</a:t>
            </a:r>
            <a:r>
              <a:rPr lang="fr-FR" sz="600" dirty="0"/>
              <a:t>)0’  'jitterLocal_sma_de_downleveltime25’  '</a:t>
            </a:r>
            <a:r>
              <a:rPr lang="fr-FR" sz="600" dirty="0" err="1"/>
              <a:t>jitterDDP_sma_de_nzamean</a:t>
            </a:r>
            <a:r>
              <a:rPr lang="fr-FR" sz="600" dirty="0"/>
              <a:t>’  '</a:t>
            </a:r>
            <a:r>
              <a:rPr lang="fr-FR" sz="600" dirty="0" err="1"/>
              <a:t>jitterDDP_sma_de</a:t>
            </a:r>
            <a:r>
              <a:rPr lang="fr-FR" sz="600" dirty="0"/>
              <a:t>_(</a:t>
            </a:r>
            <a:r>
              <a:rPr lang="fr-FR" sz="600" dirty="0" err="1"/>
              <a:t>null</a:t>
            </a:r>
            <a:r>
              <a:rPr lang="fr-FR" sz="600" dirty="0"/>
              <a:t>)0' '</a:t>
            </a:r>
            <a:r>
              <a:rPr lang="fr-FR" sz="600" dirty="0" err="1"/>
              <a:t>shimmerLocal_sma_de_numPeaks</a:t>
            </a:r>
            <a:r>
              <a:rPr lang="fr-FR" sz="600" dirty="0"/>
              <a:t>’  '</a:t>
            </a:r>
            <a:r>
              <a:rPr lang="fr-FR" sz="600" dirty="0" err="1"/>
              <a:t>shimmerLocal_sma_de_meanPeakDist</a:t>
            </a:r>
            <a:r>
              <a:rPr lang="fr-FR" sz="600" dirty="0"/>
              <a:t>' 'logHNR_sma_de_qregc1'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7364C33-A57C-72D8-B0CC-542A8A900375}"/>
              </a:ext>
            </a:extLst>
          </p:cNvPr>
          <p:cNvSpPr txBox="1"/>
          <p:nvPr/>
        </p:nvSpPr>
        <p:spPr>
          <a:xfrm>
            <a:off x="6301946" y="4944845"/>
            <a:ext cx="54122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600" dirty="0"/>
              <a:t>'F0final_sma_amean' 'F0final_sma_absmean' 'F0final_sma_qmean' 'F0final_sma_nzamean' 'F0final_sma_nzabsmean' 'F0final_sma_nzqmean' 'F0final_sma_nzgmean' 'F0final_sma_meanPeakDist' 'F0final_sma_peakMean' 'F0final_sma_linregc1' 'F0final_sma_linregc2' 'F0final_sma_qregc3' 'F0final_sma_qregerrQ' 'F0final_sma_upleveltime25' 'F0final_sma_leftctime' 'F0final_sma_rightctime' 'F0final_sma_(</a:t>
            </a:r>
            <a:r>
              <a:rPr lang="fr-FR" sz="600" dirty="0" err="1"/>
              <a:t>null</a:t>
            </a:r>
            <a:r>
              <a:rPr lang="fr-FR" sz="600" dirty="0"/>
              <a:t>)3' 'voicingFinalUnclipped_sma_upleveltime25' 'voicingFinalUnclipped_sma_downleveltime25' 'voicingFinalUnclipped_sma_upleveltime50' 'voicingFinalUnclipped_sma_downleveltime50' '</a:t>
            </a:r>
            <a:r>
              <a:rPr lang="fr-FR" sz="600" dirty="0" err="1"/>
              <a:t>voicingFinalUnclipped_sma_risetime</a:t>
            </a:r>
            <a:r>
              <a:rPr lang="fr-FR" sz="600" dirty="0"/>
              <a:t>' '</a:t>
            </a:r>
            <a:r>
              <a:rPr lang="fr-FR" sz="600" dirty="0" err="1"/>
              <a:t>voicingFinalUnclipped_sma_falltime</a:t>
            </a:r>
            <a:r>
              <a:rPr lang="fr-FR" sz="600" dirty="0"/>
              <a:t>' '</a:t>
            </a:r>
            <a:r>
              <a:rPr lang="fr-FR" sz="600" dirty="0" err="1"/>
              <a:t>voicingFinalUnclipped_sma_leftctime</a:t>
            </a:r>
            <a:r>
              <a:rPr lang="fr-FR" sz="600" dirty="0"/>
              <a:t>' '</a:t>
            </a:r>
            <a:r>
              <a:rPr lang="fr-FR" sz="600" dirty="0" err="1"/>
              <a:t>voicingFinalUnclipped_sma_rightctime</a:t>
            </a:r>
            <a:r>
              <a:rPr lang="fr-FR" sz="600" dirty="0"/>
              <a:t>' '</a:t>
            </a:r>
            <a:r>
              <a:rPr lang="fr-FR" sz="600" dirty="0" err="1"/>
              <a:t>jitterLocal_sma_amean</a:t>
            </a:r>
            <a:r>
              <a:rPr lang="fr-FR" sz="600" dirty="0"/>
              <a:t>' '</a:t>
            </a:r>
            <a:r>
              <a:rPr lang="fr-FR" sz="600" dirty="0" err="1"/>
              <a:t>jitterLocal_sma_nzabsmean</a:t>
            </a:r>
            <a:r>
              <a:rPr lang="fr-FR" sz="600" dirty="0"/>
              <a:t>' '</a:t>
            </a:r>
            <a:r>
              <a:rPr lang="fr-FR" sz="600" dirty="0" err="1"/>
              <a:t>jitterLocal_sma_nzqmean</a:t>
            </a:r>
            <a:r>
              <a:rPr lang="fr-FR" sz="600" dirty="0"/>
              <a:t>' '</a:t>
            </a:r>
            <a:r>
              <a:rPr lang="fr-FR" sz="600" dirty="0" err="1"/>
              <a:t>jitterLocal_sma</a:t>
            </a:r>
            <a:r>
              <a:rPr lang="fr-FR" sz="600" dirty="0"/>
              <a:t>_(</a:t>
            </a:r>
            <a:r>
              <a:rPr lang="fr-FR" sz="600" dirty="0" err="1"/>
              <a:t>null</a:t>
            </a:r>
            <a:r>
              <a:rPr lang="fr-FR" sz="600" dirty="0"/>
              <a:t>)3' '</a:t>
            </a:r>
            <a:r>
              <a:rPr lang="fr-FR" sz="600" dirty="0" err="1"/>
              <a:t>jitterDDP_sma_meanPeakDist</a:t>
            </a:r>
            <a:r>
              <a:rPr lang="fr-FR" sz="600" dirty="0"/>
              <a:t>' '</a:t>
            </a:r>
            <a:r>
              <a:rPr lang="fr-FR" sz="600" dirty="0" err="1"/>
              <a:t>jitterDDP_sma_qregerrA</a:t>
            </a:r>
            <a:r>
              <a:rPr lang="fr-FR" sz="600" dirty="0"/>
              <a:t>' '</a:t>
            </a:r>
            <a:r>
              <a:rPr lang="fr-FR" sz="600" dirty="0" err="1"/>
              <a:t>shimmerLocal_sma_kurtosis</a:t>
            </a:r>
            <a:r>
              <a:rPr lang="fr-FR" sz="600" dirty="0"/>
              <a:t>' '</a:t>
            </a:r>
            <a:r>
              <a:rPr lang="fr-FR" sz="600" dirty="0" err="1"/>
              <a:t>shimmerLocal_sma</a:t>
            </a:r>
            <a:r>
              <a:rPr lang="fr-FR" sz="600" dirty="0"/>
              <a:t>_(</a:t>
            </a:r>
            <a:r>
              <a:rPr lang="fr-FR" sz="600" dirty="0" err="1"/>
              <a:t>null</a:t>
            </a:r>
            <a:r>
              <a:rPr lang="fr-FR" sz="600" dirty="0"/>
              <a:t>)0' '</a:t>
            </a:r>
            <a:r>
              <a:rPr lang="fr-FR" sz="600" dirty="0" err="1"/>
              <a:t>shimmerLocal_sma</a:t>
            </a:r>
            <a:r>
              <a:rPr lang="fr-FR" sz="600" dirty="0"/>
              <a:t>_(</a:t>
            </a:r>
            <a:r>
              <a:rPr lang="fr-FR" sz="600" dirty="0" err="1"/>
              <a:t>null</a:t>
            </a:r>
            <a:r>
              <a:rPr lang="fr-FR" sz="600" dirty="0"/>
              <a:t>)3' '</a:t>
            </a:r>
            <a:r>
              <a:rPr lang="fr-FR" sz="600" dirty="0" err="1"/>
              <a:t>logHNR_sma_nzgmean</a:t>
            </a:r>
            <a:r>
              <a:rPr lang="fr-FR" sz="600" dirty="0"/>
              <a:t>' '</a:t>
            </a:r>
            <a:r>
              <a:rPr lang="fr-FR" sz="600" dirty="0" err="1"/>
              <a:t>logHNR_sma_peakMean</a:t>
            </a:r>
            <a:r>
              <a:rPr lang="fr-FR" sz="600" dirty="0"/>
              <a:t>' 'logHNR_sma_linregc2' '</a:t>
            </a:r>
            <a:r>
              <a:rPr lang="fr-FR" sz="600" dirty="0" err="1"/>
              <a:t>logHNR_sma_qregerrA</a:t>
            </a:r>
            <a:r>
              <a:rPr lang="fr-FR" sz="600" dirty="0"/>
              <a:t>' 'logHNR_sma_upleveltime90' '</a:t>
            </a:r>
            <a:r>
              <a:rPr lang="fr-FR" sz="600" dirty="0" err="1"/>
              <a:t>logHNR_sma_falltime</a:t>
            </a:r>
            <a:r>
              <a:rPr lang="fr-FR" sz="600" dirty="0"/>
              <a:t>' '</a:t>
            </a:r>
            <a:r>
              <a:rPr lang="fr-FR" sz="600" dirty="0" err="1"/>
              <a:t>logHNR_sma_duration</a:t>
            </a:r>
            <a:r>
              <a:rPr lang="fr-FR" sz="600" dirty="0"/>
              <a:t>' 'F0final_sma_de_absmean' 'F0final_sma_de_qmean' 'F0final_sma_de_nzqmean' 'F0final_sma_de_nzgmean' 'F0final_sma_de_variance' 'F0final_sma_de_stddev' 'F0final_sma_de_kurtosis' 'F0final_sma_de_numPeaks' 'F0final_sma_de_peakMean' 'F0final_sma_de_peakMeanMeanDist' 'F0final_sma_de_linregerrA' 'F0final_sma_de_linregerrQ' 'F0final_sma_de_qregc1' 'F0final_sma_de_qregc2' 'F0final_sma_de_qregc3' 'F0final_sma_de_qregerrA' 'F0final_sma_de_qregerrQ' '</a:t>
            </a:r>
            <a:r>
              <a:rPr lang="fr-FR" sz="600" dirty="0" err="1"/>
              <a:t>voicingFinalUnclipped_sma_de_amean</a:t>
            </a:r>
            <a:r>
              <a:rPr lang="fr-FR" sz="600" dirty="0"/>
              <a:t>' '</a:t>
            </a:r>
            <a:r>
              <a:rPr lang="fr-FR" sz="600" dirty="0" err="1"/>
              <a:t>voicingFinalUnclipped_sma_de_absmean</a:t>
            </a:r>
            <a:r>
              <a:rPr lang="fr-FR" sz="600" dirty="0"/>
              <a:t>' '</a:t>
            </a:r>
            <a:r>
              <a:rPr lang="fr-FR" sz="600" dirty="0" err="1"/>
              <a:t>voicingFinalUnclipped_sma_de_nzamean</a:t>
            </a:r>
            <a:r>
              <a:rPr lang="fr-FR" sz="600" dirty="0"/>
              <a:t>' '</a:t>
            </a:r>
            <a:r>
              <a:rPr lang="fr-FR" sz="600" dirty="0" err="1"/>
              <a:t>voicingFinalUnclipped_sma_de_nzqmean</a:t>
            </a:r>
            <a:r>
              <a:rPr lang="fr-FR" sz="600" dirty="0"/>
              <a:t>' '</a:t>
            </a:r>
            <a:r>
              <a:rPr lang="fr-FR" sz="600" dirty="0" err="1"/>
              <a:t>voicingFinalUnclipped_sma_de_skewness</a:t>
            </a:r>
            <a:r>
              <a:rPr lang="fr-FR" sz="600" dirty="0"/>
              <a:t>' '</a:t>
            </a:r>
            <a:r>
              <a:rPr lang="fr-FR" sz="600" dirty="0" err="1"/>
              <a:t>voicingFinalUnclipped_sma_de_kurtosis</a:t>
            </a:r>
            <a:r>
              <a:rPr lang="fr-FR" sz="600" dirty="0"/>
              <a:t>' 'voicingFinalUnclipped_sma_de_qregc2' '</a:t>
            </a:r>
            <a:r>
              <a:rPr lang="fr-FR" sz="600" dirty="0" err="1"/>
              <a:t>voicingFinalUnclipped_sma_de_centroid</a:t>
            </a:r>
            <a:r>
              <a:rPr lang="fr-FR" sz="600" dirty="0"/>
              <a:t>' 'voicingFinalUnclipped_sma_de_upleveltime25' 'voicingFinalUnclipped_sma_de_downleveltime25' '</a:t>
            </a:r>
            <a:r>
              <a:rPr lang="fr-FR" sz="600" dirty="0" err="1"/>
              <a:t>voicingFinalUnclipped_sma_de_risetime</a:t>
            </a:r>
            <a:r>
              <a:rPr lang="fr-FR" sz="600" dirty="0"/>
              <a:t>' '</a:t>
            </a:r>
            <a:r>
              <a:rPr lang="fr-FR" sz="600" dirty="0" err="1"/>
              <a:t>voicingFinalUnclipped_sma_de_falltime</a:t>
            </a:r>
            <a:r>
              <a:rPr lang="fr-FR" sz="600" dirty="0"/>
              <a:t>' '</a:t>
            </a:r>
            <a:r>
              <a:rPr lang="fr-FR" sz="600" dirty="0" err="1"/>
              <a:t>voicingFinalUnclipped_sma_de_leftctime</a:t>
            </a:r>
            <a:r>
              <a:rPr lang="fr-FR" sz="600" dirty="0"/>
              <a:t>' '</a:t>
            </a:r>
            <a:r>
              <a:rPr lang="fr-FR" sz="600" dirty="0" err="1"/>
              <a:t>voicingFinalUnclipped_sma_de_rightctime</a:t>
            </a:r>
            <a:r>
              <a:rPr lang="fr-FR" sz="600" dirty="0"/>
              <a:t>' '</a:t>
            </a:r>
            <a:r>
              <a:rPr lang="fr-FR" sz="600" dirty="0" err="1"/>
              <a:t>jitterLocal_sma_de_numPeaks</a:t>
            </a:r>
            <a:r>
              <a:rPr lang="fr-FR" sz="600" dirty="0"/>
              <a:t>' '</a:t>
            </a:r>
            <a:r>
              <a:rPr lang="fr-FR" sz="600" dirty="0" err="1"/>
              <a:t>jitterLocal_sma_de_qregerrA</a:t>
            </a:r>
            <a:r>
              <a:rPr lang="fr-FR" sz="600" dirty="0"/>
              <a:t>' 'jitterLocal_sma_de_upleveltime25' 'jitterLocal_sma_de_downleveltime25' '</a:t>
            </a:r>
            <a:r>
              <a:rPr lang="fr-FR" sz="600" dirty="0" err="1"/>
              <a:t>jitterLocal_sma_de_lpc</a:t>
            </a:r>
            <a:r>
              <a:rPr lang="fr-FR" sz="600" dirty="0"/>
              <a:t>' '</a:t>
            </a:r>
            <a:r>
              <a:rPr lang="fr-FR" sz="600" dirty="0" err="1"/>
              <a:t>jitterDDP_sma_de_nzabsmean</a:t>
            </a:r>
            <a:r>
              <a:rPr lang="fr-FR" sz="600" dirty="0"/>
              <a:t>' '</a:t>
            </a:r>
            <a:r>
              <a:rPr lang="fr-FR" sz="600" dirty="0" err="1"/>
              <a:t>jitterDDP_sma_de_kurtosis</a:t>
            </a:r>
            <a:r>
              <a:rPr lang="fr-FR" sz="600" dirty="0"/>
              <a:t>' '</a:t>
            </a:r>
            <a:r>
              <a:rPr lang="fr-FR" sz="600" dirty="0" err="1"/>
              <a:t>shimmerLocal_sma_de_meanPeakDist</a:t>
            </a:r>
            <a:r>
              <a:rPr lang="fr-FR" sz="600" dirty="0"/>
              <a:t>' '</a:t>
            </a:r>
            <a:r>
              <a:rPr lang="fr-FR" sz="600" dirty="0" err="1"/>
              <a:t>logHNR_sma_de_nzgmean</a:t>
            </a:r>
            <a:r>
              <a:rPr lang="fr-FR" sz="600" dirty="0"/>
              <a:t>' '</a:t>
            </a:r>
            <a:r>
              <a:rPr lang="fr-FR" sz="600" dirty="0" err="1"/>
              <a:t>logHNR_sma_de_linregerrA</a:t>
            </a:r>
            <a:r>
              <a:rPr lang="fr-FR" sz="600" dirty="0"/>
              <a:t>' 'logHNR_sma_de_qregc2' '</a:t>
            </a:r>
            <a:r>
              <a:rPr lang="fr-FR" sz="600" dirty="0" err="1"/>
              <a:t>logHNR_sma_de_leftctime</a:t>
            </a:r>
            <a:r>
              <a:rPr lang="fr-FR" sz="600" dirty="0"/>
              <a:t>' '</a:t>
            </a:r>
            <a:r>
              <a:rPr lang="fr-FR" sz="600" dirty="0" err="1"/>
              <a:t>logHNR_sma_de_rightctime</a:t>
            </a:r>
            <a:r>
              <a:rPr lang="fr-FR" sz="600" dirty="0"/>
              <a:t>'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2E2D38C-707C-73D0-DC7B-F7D861CE55EF}"/>
              </a:ext>
            </a:extLst>
          </p:cNvPr>
          <p:cNvSpPr txBox="1"/>
          <p:nvPr/>
        </p:nvSpPr>
        <p:spPr>
          <a:xfrm>
            <a:off x="4389982" y="1203852"/>
            <a:ext cx="35709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dirty="0"/>
              <a:t>Most important </a:t>
            </a:r>
            <a:r>
              <a:rPr lang="fr-FR" sz="2800" i="1" dirty="0" err="1"/>
              <a:t>features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924909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A45C1-7F93-2250-70A9-3320190CF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17">
            <a:extLst>
              <a:ext uri="{FF2B5EF4-FFF2-40B4-BE49-F238E27FC236}">
                <a16:creationId xmlns:a16="http://schemas.microsoft.com/office/drawing/2014/main" id="{6E037538-6CD1-4267-C7E9-EC0600205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698" y="1980260"/>
            <a:ext cx="5854700" cy="4394200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73A39141-0E73-D43C-C2EA-CEA83C38F1BF}"/>
              </a:ext>
            </a:extLst>
          </p:cNvPr>
          <p:cNvSpPr txBox="1"/>
          <p:nvPr/>
        </p:nvSpPr>
        <p:spPr>
          <a:xfrm>
            <a:off x="489858" y="478972"/>
            <a:ext cx="4257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 err="1"/>
              <a:t>Which</a:t>
            </a:r>
            <a:r>
              <a:rPr lang="fr-FR" sz="4800" dirty="0"/>
              <a:t> </a:t>
            </a:r>
            <a:r>
              <a:rPr lang="fr-FR" sz="4800" dirty="0" err="1"/>
              <a:t>features</a:t>
            </a:r>
            <a:r>
              <a:rPr lang="fr-FR" sz="4800" dirty="0"/>
              <a:t>?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22110D2-67E3-D152-F9EA-5726B1D970E0}"/>
              </a:ext>
            </a:extLst>
          </p:cNvPr>
          <p:cNvSpPr txBox="1"/>
          <p:nvPr/>
        </p:nvSpPr>
        <p:spPr>
          <a:xfrm>
            <a:off x="6837016" y="158829"/>
            <a:ext cx="50148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/>
              <a:t>Reverse </a:t>
            </a:r>
            <a:r>
              <a:rPr lang="fr-FR" sz="4800" dirty="0" err="1"/>
              <a:t>correlation</a:t>
            </a:r>
            <a:endParaRPr lang="fr-FR" sz="48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9D2C0D4-2A2B-DA20-601F-968ED2629D64}"/>
              </a:ext>
            </a:extLst>
          </p:cNvPr>
          <p:cNvSpPr txBox="1"/>
          <p:nvPr/>
        </p:nvSpPr>
        <p:spPr>
          <a:xfrm>
            <a:off x="7558941" y="4370832"/>
            <a:ext cx="3570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dirty="0" err="1"/>
              <a:t>p</a:t>
            </a:r>
            <a:r>
              <a:rPr lang="fr-FR" sz="2800" i="1" baseline="-25000" dirty="0" err="1"/>
              <a:t>val</a:t>
            </a:r>
            <a:r>
              <a:rPr lang="fr-FR" sz="2800" dirty="0"/>
              <a:t> &lt; .05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3778443-FF66-8CB8-37E3-E572878994D0}"/>
              </a:ext>
            </a:extLst>
          </p:cNvPr>
          <p:cNvSpPr txBox="1"/>
          <p:nvPr/>
        </p:nvSpPr>
        <p:spPr>
          <a:xfrm>
            <a:off x="1299238" y="1790480"/>
            <a:ext cx="1693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dirty="0" err="1"/>
              <a:t>humans</a:t>
            </a:r>
            <a:endParaRPr lang="fr-FR" sz="2800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63AB4F5B-AF49-1767-029A-E9F58A7FF9DB}"/>
              </a:ext>
            </a:extLst>
          </p:cNvPr>
          <p:cNvCxnSpPr/>
          <p:nvPr/>
        </p:nvCxnSpPr>
        <p:spPr>
          <a:xfrm>
            <a:off x="2244918" y="2279076"/>
            <a:ext cx="1496291" cy="94469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AC1509CE-D271-AA05-F97A-63D540D170D3}"/>
              </a:ext>
            </a:extLst>
          </p:cNvPr>
          <p:cNvSpPr txBox="1"/>
          <p:nvPr/>
        </p:nvSpPr>
        <p:spPr>
          <a:xfrm>
            <a:off x="1771733" y="6112850"/>
            <a:ext cx="1693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dirty="0" err="1"/>
              <a:t>monkeys</a:t>
            </a:r>
            <a:endParaRPr lang="fr-FR" sz="2800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D17B6671-0220-7A86-3C25-E3453CEC5D7F}"/>
              </a:ext>
            </a:extLst>
          </p:cNvPr>
          <p:cNvCxnSpPr>
            <a:cxnSpLocks/>
          </p:cNvCxnSpPr>
          <p:nvPr/>
        </p:nvCxnSpPr>
        <p:spPr>
          <a:xfrm flipV="1">
            <a:off x="2804838" y="5091289"/>
            <a:ext cx="1425056" cy="9809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D51E34B-336E-B4C3-EF1A-7679FDCD6BF1}"/>
              </a:ext>
            </a:extLst>
          </p:cNvPr>
          <p:cNvSpPr txBox="1"/>
          <p:nvPr/>
        </p:nvSpPr>
        <p:spPr>
          <a:xfrm>
            <a:off x="4389982" y="1203852"/>
            <a:ext cx="3570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dirty="0" err="1"/>
              <a:t>Prototypical</a:t>
            </a:r>
            <a:r>
              <a:rPr lang="fr-FR" sz="2800" i="1" dirty="0"/>
              <a:t> </a:t>
            </a:r>
            <a:r>
              <a:rPr lang="fr-FR" sz="2800" i="1" dirty="0" err="1"/>
              <a:t>features</a:t>
            </a:r>
            <a:endParaRPr lang="fr-FR" sz="2800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FDCD6EFE-5DAD-3019-47C0-83EE416DEA40}"/>
              </a:ext>
            </a:extLst>
          </p:cNvPr>
          <p:cNvSpPr txBox="1"/>
          <p:nvPr/>
        </p:nvSpPr>
        <p:spPr>
          <a:xfrm>
            <a:off x="7738394" y="2451952"/>
            <a:ext cx="35709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dirty="0" err="1"/>
              <a:t>Species</a:t>
            </a:r>
            <a:r>
              <a:rPr lang="fr-FR" sz="2800" i="1" dirty="0"/>
              <a:t> </a:t>
            </a:r>
            <a:r>
              <a:rPr lang="fr-FR" sz="2800" i="1" dirty="0" err="1"/>
              <a:t>task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25571527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1293</Words>
  <Application>Microsoft Macintosh PowerPoint</Application>
  <PresentationFormat>Grand écran</PresentationFormat>
  <Paragraphs>88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Thème Office</vt:lpstr>
      <vt:lpstr>openSMILE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Etienne Thoret</dc:creator>
  <cp:lastModifiedBy>Etienne Thoret</cp:lastModifiedBy>
  <cp:revision>31</cp:revision>
  <dcterms:created xsi:type="dcterms:W3CDTF">2024-10-19T11:23:03Z</dcterms:created>
  <dcterms:modified xsi:type="dcterms:W3CDTF">2024-10-20T13:02:49Z</dcterms:modified>
</cp:coreProperties>
</file>